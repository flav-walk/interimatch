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7" name="Google Shape;447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337e62df-e33b-4bc9-8ce3-60a33718fea1.png" id="85" name="Google Shape;8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989320" y="0"/>
            <a:ext cx="6199632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/>
          <p:nvPr/>
        </p:nvSpPr>
        <p:spPr>
          <a:xfrm>
            <a:off x="5989320" y="0"/>
            <a:ext cx="6199632" cy="6858000"/>
          </a:xfrm>
          <a:prstGeom prst="rect">
            <a:avLst/>
          </a:prstGeom>
          <a:solidFill>
            <a:srgbClr val="09463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594360" y="411480"/>
            <a:ext cx="2103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Interimatch</a:t>
            </a:r>
            <a:endParaRPr/>
          </a:p>
        </p:txBody>
      </p:sp>
      <p:sp>
        <p:nvSpPr>
          <p:cNvPr id="88" name="Google Shape;88;p13"/>
          <p:cNvSpPr/>
          <p:nvPr/>
        </p:nvSpPr>
        <p:spPr>
          <a:xfrm>
            <a:off x="594360" y="1143000"/>
            <a:ext cx="1325880" cy="310896"/>
          </a:xfrm>
          <a:prstGeom prst="roundRect">
            <a:avLst>
              <a:gd fmla="val 16667" name="adj"/>
            </a:avLst>
          </a:prstGeom>
          <a:solidFill>
            <a:srgbClr val="094639"/>
          </a:solidFill>
          <a:ln cap="flat" cmpd="sng" w="10150">
            <a:solidFill>
              <a:srgbClr val="0946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94360" y="1161288"/>
            <a:ext cx="1325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POC • 11 jours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594360" y="1691640"/>
            <a:ext cx="48463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800" u="none" cap="none" strike="noStrike">
                <a:solidFill>
                  <a:srgbClr val="1C201E"/>
                </a:solidFill>
                <a:latin typeface="Georgia"/>
                <a:ea typeface="Georgia"/>
                <a:cs typeface="Georgia"/>
                <a:sym typeface="Georgia"/>
              </a:rPr>
              <a:t>NOTE DE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CADRAGE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94360" y="3273552"/>
            <a:ext cx="4800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Plateforme de mise en relation entre entreprises et intérimaires</a:t>
            </a:r>
            <a:endParaRPr/>
          </a:p>
        </p:txBody>
      </p:sp>
      <p:sp>
        <p:nvSpPr>
          <p:cNvPr id="92" name="Google Shape;92;p13"/>
          <p:cNvSpPr/>
          <p:nvPr/>
        </p:nvSpPr>
        <p:spPr>
          <a:xfrm>
            <a:off x="594360" y="4160520"/>
            <a:ext cx="1874519" cy="310896"/>
          </a:xfrm>
          <a:prstGeom prst="roundRect">
            <a:avLst>
              <a:gd fmla="val 16667" name="adj"/>
            </a:avLst>
          </a:prstGeom>
          <a:solidFill>
            <a:srgbClr val="DCF1E9"/>
          </a:solidFill>
          <a:ln cap="flat" cmpd="sng" w="10150">
            <a:solidFill>
              <a:srgbClr val="DCF1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594360" y="4178807"/>
            <a:ext cx="1874519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Hôtellerie / Restauration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594360" y="4828032"/>
            <a:ext cx="4800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94639"/>
                </a:solidFill>
                <a:latin typeface="Georgia"/>
                <a:ea typeface="Georgia"/>
                <a:cs typeface="Georgia"/>
                <a:sym typeface="Georgia"/>
              </a:rPr>
              <a:t>Une mise en relation plus rapide, plus simple, plus fluide.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594360" y="6016752"/>
            <a:ext cx="4389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96F6A"/>
                </a:solidFill>
                <a:latin typeface="Arial"/>
                <a:ea typeface="Arial"/>
                <a:cs typeface="Arial"/>
                <a:sym typeface="Arial"/>
              </a:rPr>
              <a:t>Yrieix • Flavien • Aude • Abdessalam • Jimmy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502920" y="384048"/>
            <a:ext cx="411480" cy="310896"/>
          </a:xfrm>
          <a:prstGeom prst="roundRect">
            <a:avLst>
              <a:gd fmla="val 16667" name="adj"/>
            </a:avLst>
          </a:prstGeom>
          <a:solidFill>
            <a:srgbClr val="DCF1E9"/>
          </a:solidFill>
          <a:ln cap="flat" cmpd="sng" w="10150">
            <a:solidFill>
              <a:srgbClr val="DCF1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502920" y="402336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1051560" y="33832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C201E"/>
                </a:solidFill>
                <a:latin typeface="Georgia"/>
                <a:ea typeface="Georgia"/>
                <a:cs typeface="Georgia"/>
                <a:sym typeface="Georgia"/>
              </a:rPr>
              <a:t>Pourquoi l’Hôtellerie / Restauration ?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1051560" y="80467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96F6A"/>
                </a:solidFill>
                <a:latin typeface="Arial"/>
                <a:ea typeface="Arial"/>
                <a:cs typeface="Arial"/>
                <a:sym typeface="Arial"/>
              </a:rPr>
              <a:t>Un secteur à forts besoins de recrutement et à forte saisonnalité.</a:t>
            </a:r>
            <a:endParaRPr/>
          </a:p>
        </p:txBody>
      </p:sp>
      <p:sp>
        <p:nvSpPr>
          <p:cNvPr id="105" name="Google Shape;105;p14"/>
          <p:cNvSpPr/>
          <p:nvPr/>
        </p:nvSpPr>
        <p:spPr>
          <a:xfrm>
            <a:off x="594360" y="1417320"/>
            <a:ext cx="196596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2E2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722376" y="1581912"/>
            <a:ext cx="17099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1,322 M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722376" y="1965960"/>
            <a:ext cx="17099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6F6A"/>
                </a:solidFill>
                <a:latin typeface="Arial"/>
                <a:ea typeface="Arial"/>
                <a:cs typeface="Arial"/>
                <a:sym typeface="Arial"/>
              </a:rPr>
              <a:t>salariés en France</a:t>
            </a:r>
            <a:endParaRPr/>
          </a:p>
        </p:txBody>
      </p:sp>
      <p:sp>
        <p:nvSpPr>
          <p:cNvPr id="108" name="Google Shape;108;p14"/>
          <p:cNvSpPr/>
          <p:nvPr/>
        </p:nvSpPr>
        <p:spPr>
          <a:xfrm>
            <a:off x="2788920" y="1417320"/>
            <a:ext cx="196596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2E2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2916936" y="1581912"/>
            <a:ext cx="17099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214 500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2916936" y="1965960"/>
            <a:ext cx="17099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6F6A"/>
                </a:solidFill>
                <a:latin typeface="Arial"/>
                <a:ea typeface="Arial"/>
                <a:cs typeface="Arial"/>
                <a:sym typeface="Arial"/>
              </a:rPr>
              <a:t>établissements</a:t>
            </a:r>
            <a:endParaRPr/>
          </a:p>
        </p:txBody>
      </p:sp>
      <p:sp>
        <p:nvSpPr>
          <p:cNvPr id="111" name="Google Shape;111;p14"/>
          <p:cNvSpPr/>
          <p:nvPr/>
        </p:nvSpPr>
        <p:spPr>
          <a:xfrm>
            <a:off x="4983480" y="1417320"/>
            <a:ext cx="196596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2E2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5111496" y="1581912"/>
            <a:ext cx="17099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59,2 %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5111496" y="1965960"/>
            <a:ext cx="17099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6F6A"/>
                </a:solidFill>
                <a:latin typeface="Arial"/>
                <a:ea typeface="Arial"/>
                <a:cs typeface="Arial"/>
                <a:sym typeface="Arial"/>
              </a:rPr>
              <a:t>recrutements difficiles</a:t>
            </a:r>
            <a:endParaRPr/>
          </a:p>
        </p:txBody>
      </p:sp>
      <p:sp>
        <p:nvSpPr>
          <p:cNvPr id="114" name="Google Shape;114;p14"/>
          <p:cNvSpPr/>
          <p:nvPr/>
        </p:nvSpPr>
        <p:spPr>
          <a:xfrm>
            <a:off x="7178040" y="1417320"/>
            <a:ext cx="1965960" cy="9601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2E2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4"/>
          <p:cNvSpPr txBox="1"/>
          <p:nvPr/>
        </p:nvSpPr>
        <p:spPr>
          <a:xfrm>
            <a:off x="7306055" y="1581912"/>
            <a:ext cx="1709928" cy="3291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52,6 %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7306055" y="1965960"/>
            <a:ext cx="170992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6F6A"/>
                </a:solidFill>
                <a:latin typeface="Arial"/>
                <a:ea typeface="Arial"/>
                <a:cs typeface="Arial"/>
                <a:sym typeface="Arial"/>
              </a:rPr>
              <a:t>recrutements saisonniers</a:t>
            </a:r>
            <a:endParaRPr/>
          </a:p>
        </p:txBody>
      </p:sp>
      <p:sp>
        <p:nvSpPr>
          <p:cNvPr id="117" name="Google Shape;117;p14"/>
          <p:cNvSpPr/>
          <p:nvPr/>
        </p:nvSpPr>
        <p:spPr>
          <a:xfrm>
            <a:off x="9372600" y="1417320"/>
            <a:ext cx="2148840" cy="960120"/>
          </a:xfrm>
          <a:prstGeom prst="roundRect">
            <a:avLst>
              <a:gd fmla="val 16667" name="adj"/>
            </a:avLst>
          </a:prstGeom>
          <a:solidFill>
            <a:srgbClr val="094639"/>
          </a:solidFill>
          <a:ln cap="flat" cmpd="sng" w="10150">
            <a:solidFill>
              <a:srgbClr val="0946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/>
        </p:nvSpPr>
        <p:spPr>
          <a:xfrm>
            <a:off x="9532623" y="1483425"/>
            <a:ext cx="1828800" cy="43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385 370</a:t>
            </a:r>
            <a:endParaRPr/>
          </a:p>
        </p:txBody>
      </p:sp>
      <p:sp>
        <p:nvSpPr>
          <p:cNvPr id="119" name="Google Shape;119;p14"/>
          <p:cNvSpPr txBox="1"/>
          <p:nvPr/>
        </p:nvSpPr>
        <p:spPr>
          <a:xfrm>
            <a:off x="9532623" y="1803465"/>
            <a:ext cx="1737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projets de recrutement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HCR en 2024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0" name="Google Shape;120;p14"/>
          <p:cNvSpPr/>
          <p:nvPr/>
        </p:nvSpPr>
        <p:spPr>
          <a:xfrm>
            <a:off x="594360" y="2788920"/>
            <a:ext cx="5349240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2E2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14"/>
          <p:cNvSpPr txBox="1"/>
          <p:nvPr/>
        </p:nvSpPr>
        <p:spPr>
          <a:xfrm>
            <a:off x="868680" y="30632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94639"/>
                </a:solidFill>
                <a:latin typeface="Georgia"/>
                <a:ea typeface="Georgia"/>
                <a:cs typeface="Georgia"/>
                <a:sym typeface="Georgia"/>
              </a:rPr>
              <a:t>Côté entreprise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868680" y="3547872"/>
            <a:ext cx="452628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Trouver rapidement une personne disponible, proche et qualifiée pour une mission.</a:t>
            </a:r>
            <a:endParaRPr/>
          </a:p>
        </p:txBody>
      </p:sp>
      <p:sp>
        <p:nvSpPr>
          <p:cNvPr id="123" name="Google Shape;123;p14"/>
          <p:cNvSpPr/>
          <p:nvPr/>
        </p:nvSpPr>
        <p:spPr>
          <a:xfrm>
            <a:off x="6236208" y="2788920"/>
            <a:ext cx="5285232" cy="23317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2E2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6510528" y="3063240"/>
            <a:ext cx="21945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094639"/>
                </a:solidFill>
                <a:latin typeface="Georgia"/>
                <a:ea typeface="Georgia"/>
                <a:cs typeface="Georgia"/>
                <a:sym typeface="Georgia"/>
              </a:rPr>
              <a:t>Côté intérimaire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6510528" y="3547872"/>
            <a:ext cx="4389120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Recevoir des missions réellement compatibles avec son profil, ses compétences, sa localisation et ses disponibilités.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594360" y="5715000"/>
            <a:ext cx="5486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6F6A"/>
                </a:solidFill>
                <a:latin typeface="Arial"/>
                <a:ea typeface="Arial"/>
                <a:cs typeface="Arial"/>
                <a:sym typeface="Arial"/>
              </a:rPr>
              <a:t>Sources marché : France Travail, DARES, Baromètre de l’emploi HCR 2024.</a:t>
            </a:r>
            <a:endParaRPr/>
          </a:p>
        </p:txBody>
      </p:sp>
      <p:sp>
        <p:nvSpPr>
          <p:cNvPr id="127" name="Google Shape;127;p14"/>
          <p:cNvSpPr txBox="1"/>
          <p:nvPr/>
        </p:nvSpPr>
        <p:spPr>
          <a:xfrm>
            <a:off x="502920" y="647395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Interimatch</a:t>
            </a:r>
            <a:endParaRPr/>
          </a:p>
        </p:txBody>
      </p:sp>
      <p:sp>
        <p:nvSpPr>
          <p:cNvPr id="128" name="Google Shape;128;p14"/>
          <p:cNvSpPr txBox="1"/>
          <p:nvPr/>
        </p:nvSpPr>
        <p:spPr>
          <a:xfrm>
            <a:off x="1508760" y="647395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96F6A"/>
                </a:solidFill>
                <a:latin typeface="Arial"/>
                <a:ea typeface="Arial"/>
                <a:cs typeface="Arial"/>
                <a:sym typeface="Arial"/>
              </a:rPr>
              <a:t>Les talents d’aujourd’hui, vos réussites de demain.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5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/>
          <p:nvPr/>
        </p:nvSpPr>
        <p:spPr>
          <a:xfrm>
            <a:off x="502920" y="384048"/>
            <a:ext cx="411480" cy="310896"/>
          </a:xfrm>
          <a:prstGeom prst="roundRect">
            <a:avLst>
              <a:gd fmla="val 16667" name="adj"/>
            </a:avLst>
          </a:prstGeom>
          <a:solidFill>
            <a:srgbClr val="DCF1E9"/>
          </a:solidFill>
          <a:ln cap="flat" cmpd="sng" w="10150">
            <a:solidFill>
              <a:srgbClr val="DCF1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5"/>
          <p:cNvSpPr txBox="1"/>
          <p:nvPr/>
        </p:nvSpPr>
        <p:spPr>
          <a:xfrm>
            <a:off x="502920" y="402336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1051560" y="33832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C201E"/>
                </a:solidFill>
                <a:latin typeface="Georgia"/>
                <a:ea typeface="Georgia"/>
                <a:cs typeface="Georgia"/>
                <a:sym typeface="Georgia"/>
              </a:rPr>
              <a:t>La proposition de valeur</a:t>
            </a:r>
            <a:endParaRPr/>
          </a:p>
        </p:txBody>
      </p:sp>
      <p:sp>
        <p:nvSpPr>
          <p:cNvPr id="137" name="Google Shape;137;p15"/>
          <p:cNvSpPr/>
          <p:nvPr/>
        </p:nvSpPr>
        <p:spPr>
          <a:xfrm>
            <a:off x="640080" y="1417320"/>
            <a:ext cx="10972800" cy="1828800"/>
          </a:xfrm>
          <a:prstGeom prst="roundRect">
            <a:avLst>
              <a:gd fmla="val 16667" name="adj"/>
            </a:avLst>
          </a:prstGeom>
          <a:solidFill>
            <a:srgbClr val="094639"/>
          </a:solidFill>
          <a:ln cap="flat" cmpd="sng" w="10150">
            <a:solidFill>
              <a:srgbClr val="0946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5"/>
          <p:cNvSpPr txBox="1"/>
          <p:nvPr/>
        </p:nvSpPr>
        <p:spPr>
          <a:xfrm>
            <a:off x="960120" y="1572768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400" u="none" cap="none" strike="noStrike">
                <a:solidFill>
                  <a:srgbClr val="85B8A5"/>
                </a:solidFill>
                <a:latin typeface="Georgia"/>
                <a:ea typeface="Georgia"/>
                <a:cs typeface="Georgia"/>
                <a:sym typeface="Georgia"/>
              </a:rPr>
              <a:t>“</a:t>
            </a:r>
            <a:endParaRPr/>
          </a:p>
        </p:txBody>
      </p:sp>
      <p:sp>
        <p:nvSpPr>
          <p:cNvPr id="139" name="Google Shape;139;p15"/>
          <p:cNvSpPr txBox="1"/>
          <p:nvPr/>
        </p:nvSpPr>
        <p:spPr>
          <a:xfrm>
            <a:off x="1417320" y="1664208"/>
            <a:ext cx="94640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Interimatch met automatiquement en relation les entreprises de l’hôtellerie-restauration avec les intérimaires disponibles correspondant à leurs besoins.</a:t>
            </a:r>
            <a:endParaRPr/>
          </a:p>
        </p:txBody>
      </p:sp>
      <p:sp>
        <p:nvSpPr>
          <p:cNvPr id="140" name="Google Shape;140;p15"/>
          <p:cNvSpPr txBox="1"/>
          <p:nvPr/>
        </p:nvSpPr>
        <p:spPr>
          <a:xfrm>
            <a:off x="1417320" y="2827047"/>
            <a:ext cx="88698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CF1E9"/>
                </a:solidFill>
                <a:latin typeface="Arial"/>
                <a:ea typeface="Arial"/>
                <a:cs typeface="Arial"/>
                <a:sym typeface="Arial"/>
              </a:rPr>
              <a:t>Objectif : réduire le temps entre la création d’une mission et sa prise en charge.</a:t>
            </a:r>
            <a:endParaRPr/>
          </a:p>
        </p:txBody>
      </p:sp>
      <p:sp>
        <p:nvSpPr>
          <p:cNvPr id="141" name="Google Shape;141;p15"/>
          <p:cNvSpPr/>
          <p:nvPr/>
        </p:nvSpPr>
        <p:spPr>
          <a:xfrm>
            <a:off x="685800" y="3794760"/>
            <a:ext cx="1572768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2E2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5"/>
          <p:cNvSpPr/>
          <p:nvPr/>
        </p:nvSpPr>
        <p:spPr>
          <a:xfrm>
            <a:off x="795528" y="3931920"/>
            <a:ext cx="310896" cy="310896"/>
          </a:xfrm>
          <a:prstGeom prst="roundRect">
            <a:avLst>
              <a:gd fmla="val 16667" name="adj"/>
            </a:avLst>
          </a:prstGeom>
          <a:solidFill>
            <a:srgbClr val="094639"/>
          </a:solidFill>
          <a:ln cap="flat" cmpd="sng" w="10150">
            <a:solidFill>
              <a:srgbClr val="0946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5"/>
          <p:cNvSpPr txBox="1"/>
          <p:nvPr/>
        </p:nvSpPr>
        <p:spPr>
          <a:xfrm>
            <a:off x="795528" y="3950207"/>
            <a:ext cx="310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44" name="Google Shape;144;p15"/>
          <p:cNvSpPr txBox="1"/>
          <p:nvPr/>
        </p:nvSpPr>
        <p:spPr>
          <a:xfrm>
            <a:off x="795528" y="4361688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Mission</a:t>
            </a:r>
            <a:endParaRPr/>
          </a:p>
        </p:txBody>
      </p:sp>
      <p:sp>
        <p:nvSpPr>
          <p:cNvPr id="145" name="Google Shape;145;p15"/>
          <p:cNvSpPr txBox="1"/>
          <p:nvPr/>
        </p:nvSpPr>
        <p:spPr>
          <a:xfrm>
            <a:off x="2295144" y="4151376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683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46" name="Google Shape;146;p15"/>
          <p:cNvSpPr/>
          <p:nvPr/>
        </p:nvSpPr>
        <p:spPr>
          <a:xfrm>
            <a:off x="2560320" y="3794760"/>
            <a:ext cx="1572768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2E2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/>
          <p:nvPr/>
        </p:nvSpPr>
        <p:spPr>
          <a:xfrm>
            <a:off x="2670048" y="3931920"/>
            <a:ext cx="310896" cy="310896"/>
          </a:xfrm>
          <a:prstGeom prst="roundRect">
            <a:avLst>
              <a:gd fmla="val 16667" name="adj"/>
            </a:avLst>
          </a:prstGeom>
          <a:solidFill>
            <a:srgbClr val="094639"/>
          </a:solidFill>
          <a:ln cap="flat" cmpd="sng" w="10150">
            <a:solidFill>
              <a:srgbClr val="0946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5"/>
          <p:cNvSpPr txBox="1"/>
          <p:nvPr/>
        </p:nvSpPr>
        <p:spPr>
          <a:xfrm>
            <a:off x="2670048" y="3950207"/>
            <a:ext cx="310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149" name="Google Shape;149;p15"/>
          <p:cNvSpPr txBox="1"/>
          <p:nvPr/>
        </p:nvSpPr>
        <p:spPr>
          <a:xfrm>
            <a:off x="2670048" y="4361688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Matching</a:t>
            </a:r>
            <a:endParaRPr/>
          </a:p>
        </p:txBody>
      </p:sp>
      <p:sp>
        <p:nvSpPr>
          <p:cNvPr id="150" name="Google Shape;150;p15"/>
          <p:cNvSpPr txBox="1"/>
          <p:nvPr/>
        </p:nvSpPr>
        <p:spPr>
          <a:xfrm>
            <a:off x="4169663" y="4151376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683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51" name="Google Shape;151;p15"/>
          <p:cNvSpPr/>
          <p:nvPr/>
        </p:nvSpPr>
        <p:spPr>
          <a:xfrm>
            <a:off x="4434840" y="3794760"/>
            <a:ext cx="1572768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2E2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5"/>
          <p:cNvSpPr/>
          <p:nvPr/>
        </p:nvSpPr>
        <p:spPr>
          <a:xfrm>
            <a:off x="4544568" y="3931920"/>
            <a:ext cx="310896" cy="310896"/>
          </a:xfrm>
          <a:prstGeom prst="roundRect">
            <a:avLst>
              <a:gd fmla="val 16667" name="adj"/>
            </a:avLst>
          </a:prstGeom>
          <a:solidFill>
            <a:srgbClr val="094639"/>
          </a:solidFill>
          <a:ln cap="flat" cmpd="sng" w="10150">
            <a:solidFill>
              <a:srgbClr val="0946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5"/>
          <p:cNvSpPr txBox="1"/>
          <p:nvPr/>
        </p:nvSpPr>
        <p:spPr>
          <a:xfrm>
            <a:off x="4544568" y="3950207"/>
            <a:ext cx="310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54" name="Google Shape;154;p15"/>
          <p:cNvSpPr txBox="1"/>
          <p:nvPr/>
        </p:nvSpPr>
        <p:spPr>
          <a:xfrm>
            <a:off x="4544568" y="4361688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Scoring</a:t>
            </a:r>
            <a:endParaRPr/>
          </a:p>
        </p:txBody>
      </p:sp>
      <p:sp>
        <p:nvSpPr>
          <p:cNvPr id="155" name="Google Shape;155;p15"/>
          <p:cNvSpPr txBox="1"/>
          <p:nvPr/>
        </p:nvSpPr>
        <p:spPr>
          <a:xfrm>
            <a:off x="6044183" y="4151376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683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56" name="Google Shape;156;p15"/>
          <p:cNvSpPr/>
          <p:nvPr/>
        </p:nvSpPr>
        <p:spPr>
          <a:xfrm>
            <a:off x="6309359" y="3794760"/>
            <a:ext cx="1572768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2E2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6419088" y="3931920"/>
            <a:ext cx="310896" cy="310896"/>
          </a:xfrm>
          <a:prstGeom prst="roundRect">
            <a:avLst>
              <a:gd fmla="val 16667" name="adj"/>
            </a:avLst>
          </a:prstGeom>
          <a:solidFill>
            <a:srgbClr val="094639"/>
          </a:solidFill>
          <a:ln cap="flat" cmpd="sng" w="10150">
            <a:solidFill>
              <a:srgbClr val="0946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 txBox="1"/>
          <p:nvPr/>
        </p:nvSpPr>
        <p:spPr>
          <a:xfrm>
            <a:off x="6419088" y="3950207"/>
            <a:ext cx="310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59" name="Google Shape;159;p15"/>
          <p:cNvSpPr txBox="1"/>
          <p:nvPr/>
        </p:nvSpPr>
        <p:spPr>
          <a:xfrm>
            <a:off x="6419088" y="4361688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Notification</a:t>
            </a:r>
            <a:endParaRPr/>
          </a:p>
        </p:txBody>
      </p:sp>
      <p:sp>
        <p:nvSpPr>
          <p:cNvPr id="160" name="Google Shape;160;p15"/>
          <p:cNvSpPr txBox="1"/>
          <p:nvPr/>
        </p:nvSpPr>
        <p:spPr>
          <a:xfrm>
            <a:off x="7918704" y="4151376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683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61" name="Google Shape;161;p15"/>
          <p:cNvSpPr/>
          <p:nvPr/>
        </p:nvSpPr>
        <p:spPr>
          <a:xfrm>
            <a:off x="8183879" y="3794760"/>
            <a:ext cx="1572768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2E2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8293607" y="3931920"/>
            <a:ext cx="310896" cy="310896"/>
          </a:xfrm>
          <a:prstGeom prst="roundRect">
            <a:avLst>
              <a:gd fmla="val 16667" name="adj"/>
            </a:avLst>
          </a:prstGeom>
          <a:solidFill>
            <a:srgbClr val="094639"/>
          </a:solidFill>
          <a:ln cap="flat" cmpd="sng" w="10150">
            <a:solidFill>
              <a:srgbClr val="0946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 txBox="1"/>
          <p:nvPr/>
        </p:nvSpPr>
        <p:spPr>
          <a:xfrm>
            <a:off x="8293607" y="3950207"/>
            <a:ext cx="310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8293607" y="4361688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Acceptation</a:t>
            </a:r>
            <a:endParaRPr/>
          </a:p>
        </p:txBody>
      </p:sp>
      <p:sp>
        <p:nvSpPr>
          <p:cNvPr id="165" name="Google Shape;165;p15"/>
          <p:cNvSpPr txBox="1"/>
          <p:nvPr/>
        </p:nvSpPr>
        <p:spPr>
          <a:xfrm>
            <a:off x="9793224" y="4151376"/>
            <a:ext cx="256032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683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166" name="Google Shape;166;p15"/>
          <p:cNvSpPr/>
          <p:nvPr/>
        </p:nvSpPr>
        <p:spPr>
          <a:xfrm>
            <a:off x="10058400" y="3794760"/>
            <a:ext cx="1572768" cy="11430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2E2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10168128" y="3931920"/>
            <a:ext cx="310896" cy="310896"/>
          </a:xfrm>
          <a:prstGeom prst="roundRect">
            <a:avLst>
              <a:gd fmla="val 16667" name="adj"/>
            </a:avLst>
          </a:prstGeom>
          <a:solidFill>
            <a:srgbClr val="094639"/>
          </a:solidFill>
          <a:ln cap="flat" cmpd="sng" w="10150">
            <a:solidFill>
              <a:srgbClr val="0946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5"/>
          <p:cNvSpPr txBox="1"/>
          <p:nvPr/>
        </p:nvSpPr>
        <p:spPr>
          <a:xfrm>
            <a:off x="10168128" y="3950207"/>
            <a:ext cx="3108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69" name="Google Shape;169;p15"/>
          <p:cNvSpPr txBox="1"/>
          <p:nvPr/>
        </p:nvSpPr>
        <p:spPr>
          <a:xfrm>
            <a:off x="10168128" y="4361688"/>
            <a:ext cx="1325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Attribution</a:t>
            </a:r>
            <a:endParaRPr/>
          </a:p>
        </p:txBody>
      </p:sp>
      <p:sp>
        <p:nvSpPr>
          <p:cNvPr id="170" name="Google Shape;170;p15"/>
          <p:cNvSpPr txBox="1"/>
          <p:nvPr/>
        </p:nvSpPr>
        <p:spPr>
          <a:xfrm>
            <a:off x="502920" y="647395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Interimatch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1508760" y="647395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96F6A"/>
                </a:solidFill>
                <a:latin typeface="Arial"/>
                <a:ea typeface="Arial"/>
                <a:cs typeface="Arial"/>
                <a:sym typeface="Arial"/>
              </a:rPr>
              <a:t>Les talents d’aujourd’hui, vos réussites de demain.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16"/>
          <p:cNvSpPr/>
          <p:nvPr/>
        </p:nvSpPr>
        <p:spPr>
          <a:xfrm>
            <a:off x="502920" y="384048"/>
            <a:ext cx="411480" cy="310896"/>
          </a:xfrm>
          <a:prstGeom prst="roundRect">
            <a:avLst>
              <a:gd fmla="val 16667" name="adj"/>
            </a:avLst>
          </a:prstGeom>
          <a:solidFill>
            <a:srgbClr val="DCF1E9"/>
          </a:solidFill>
          <a:ln cap="flat" cmpd="sng" w="10150">
            <a:solidFill>
              <a:srgbClr val="DCF1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6"/>
          <p:cNvSpPr txBox="1"/>
          <p:nvPr/>
        </p:nvSpPr>
        <p:spPr>
          <a:xfrm>
            <a:off x="502920" y="402336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79" name="Google Shape;179;p16"/>
          <p:cNvSpPr txBox="1"/>
          <p:nvPr/>
        </p:nvSpPr>
        <p:spPr>
          <a:xfrm>
            <a:off x="1051560" y="33832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C201E"/>
                </a:solidFill>
                <a:latin typeface="Georgia"/>
                <a:ea typeface="Georgia"/>
                <a:cs typeface="Georgia"/>
                <a:sym typeface="Georgia"/>
              </a:rPr>
              <a:t>Deux parcours utilisateurs</a:t>
            </a:r>
            <a:endParaRPr/>
          </a:p>
        </p:txBody>
      </p:sp>
      <p:sp>
        <p:nvSpPr>
          <p:cNvPr id="180" name="Google Shape;180;p16"/>
          <p:cNvSpPr/>
          <p:nvPr/>
        </p:nvSpPr>
        <p:spPr>
          <a:xfrm>
            <a:off x="594360" y="1325880"/>
            <a:ext cx="5440680" cy="4526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2E2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/>
          <p:nvPr/>
        </p:nvSpPr>
        <p:spPr>
          <a:xfrm>
            <a:off x="868680" y="1600200"/>
            <a:ext cx="1188720" cy="310896"/>
          </a:xfrm>
          <a:prstGeom prst="roundRect">
            <a:avLst>
              <a:gd fmla="val 16667" name="adj"/>
            </a:avLst>
          </a:prstGeom>
          <a:solidFill>
            <a:srgbClr val="094639"/>
          </a:solidFill>
          <a:ln cap="flat" cmpd="sng" w="10150">
            <a:solidFill>
              <a:srgbClr val="0946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6"/>
          <p:cNvSpPr txBox="1"/>
          <p:nvPr/>
        </p:nvSpPr>
        <p:spPr>
          <a:xfrm>
            <a:off x="868680" y="1618488"/>
            <a:ext cx="1188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ENTREPRISE</a:t>
            </a:r>
            <a:endParaRPr/>
          </a:p>
        </p:txBody>
      </p:sp>
      <p:sp>
        <p:nvSpPr>
          <p:cNvPr id="183" name="Google Shape;183;p16"/>
          <p:cNvSpPr/>
          <p:nvPr/>
        </p:nvSpPr>
        <p:spPr>
          <a:xfrm>
            <a:off x="868680" y="2148840"/>
            <a:ext cx="347472" cy="310896"/>
          </a:xfrm>
          <a:prstGeom prst="roundRect">
            <a:avLst>
              <a:gd fmla="val 16667" name="adj"/>
            </a:avLst>
          </a:prstGeom>
          <a:solidFill>
            <a:srgbClr val="DCF1E9"/>
          </a:solidFill>
          <a:ln cap="flat" cmpd="sng" w="10150">
            <a:solidFill>
              <a:srgbClr val="DCF1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6"/>
          <p:cNvSpPr txBox="1"/>
          <p:nvPr/>
        </p:nvSpPr>
        <p:spPr>
          <a:xfrm>
            <a:off x="868680" y="2167128"/>
            <a:ext cx="347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185" name="Google Shape;185;p16"/>
          <p:cNvSpPr txBox="1"/>
          <p:nvPr/>
        </p:nvSpPr>
        <p:spPr>
          <a:xfrm>
            <a:off x="1353312" y="2130552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Créer un compte</a:t>
            </a:r>
            <a:endParaRPr/>
          </a:p>
        </p:txBody>
      </p:sp>
      <p:sp>
        <p:nvSpPr>
          <p:cNvPr id="186" name="Google Shape;186;p16"/>
          <p:cNvSpPr txBox="1"/>
          <p:nvPr/>
        </p:nvSpPr>
        <p:spPr>
          <a:xfrm>
            <a:off x="1353312" y="2414016"/>
            <a:ext cx="3886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96F6A"/>
                </a:solidFill>
                <a:latin typeface="Arial"/>
                <a:ea typeface="Arial"/>
                <a:cs typeface="Arial"/>
                <a:sym typeface="Arial"/>
              </a:rPr>
              <a:t>Informations administratives</a:t>
            </a:r>
            <a:endParaRPr/>
          </a:p>
        </p:txBody>
      </p:sp>
      <p:sp>
        <p:nvSpPr>
          <p:cNvPr id="187" name="Google Shape;187;p16"/>
          <p:cNvSpPr/>
          <p:nvPr/>
        </p:nvSpPr>
        <p:spPr>
          <a:xfrm>
            <a:off x="868680" y="2971800"/>
            <a:ext cx="347472" cy="310896"/>
          </a:xfrm>
          <a:prstGeom prst="roundRect">
            <a:avLst>
              <a:gd fmla="val 16667" name="adj"/>
            </a:avLst>
          </a:prstGeom>
          <a:solidFill>
            <a:srgbClr val="DCF1E9"/>
          </a:solidFill>
          <a:ln cap="flat" cmpd="sng" w="10150">
            <a:solidFill>
              <a:srgbClr val="DCF1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6"/>
          <p:cNvSpPr txBox="1"/>
          <p:nvPr/>
        </p:nvSpPr>
        <p:spPr>
          <a:xfrm>
            <a:off x="868680" y="2990088"/>
            <a:ext cx="347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189" name="Google Shape;189;p16"/>
          <p:cNvSpPr txBox="1"/>
          <p:nvPr/>
        </p:nvSpPr>
        <p:spPr>
          <a:xfrm>
            <a:off x="1353312" y="2953512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Publier une mission</a:t>
            </a:r>
            <a:endParaRPr/>
          </a:p>
        </p:txBody>
      </p:sp>
      <p:sp>
        <p:nvSpPr>
          <p:cNvPr id="190" name="Google Shape;190;p16"/>
          <p:cNvSpPr txBox="1"/>
          <p:nvPr/>
        </p:nvSpPr>
        <p:spPr>
          <a:xfrm>
            <a:off x="1353312" y="3236976"/>
            <a:ext cx="3886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96F6A"/>
                </a:solidFill>
                <a:latin typeface="Arial"/>
                <a:ea typeface="Arial"/>
                <a:cs typeface="Arial"/>
                <a:sym typeface="Arial"/>
              </a:rPr>
              <a:t>Poste, dates, lieu, compétences, rémunération</a:t>
            </a:r>
            <a:endParaRPr/>
          </a:p>
        </p:txBody>
      </p:sp>
      <p:sp>
        <p:nvSpPr>
          <p:cNvPr id="191" name="Google Shape;191;p16"/>
          <p:cNvSpPr/>
          <p:nvPr/>
        </p:nvSpPr>
        <p:spPr>
          <a:xfrm>
            <a:off x="868680" y="3794760"/>
            <a:ext cx="347472" cy="310896"/>
          </a:xfrm>
          <a:prstGeom prst="roundRect">
            <a:avLst>
              <a:gd fmla="val 16667" name="adj"/>
            </a:avLst>
          </a:prstGeom>
          <a:solidFill>
            <a:srgbClr val="DCF1E9"/>
          </a:solidFill>
          <a:ln cap="flat" cmpd="sng" w="10150">
            <a:solidFill>
              <a:srgbClr val="DCF1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6"/>
          <p:cNvSpPr txBox="1"/>
          <p:nvPr/>
        </p:nvSpPr>
        <p:spPr>
          <a:xfrm>
            <a:off x="868680" y="3813048"/>
            <a:ext cx="347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193" name="Google Shape;193;p16"/>
          <p:cNvSpPr txBox="1"/>
          <p:nvPr/>
        </p:nvSpPr>
        <p:spPr>
          <a:xfrm>
            <a:off x="1353312" y="3776472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Recevoir des candidats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1353312" y="4059936"/>
            <a:ext cx="3886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96F6A"/>
                </a:solidFill>
                <a:latin typeface="Arial"/>
                <a:ea typeface="Arial"/>
                <a:cs typeface="Arial"/>
                <a:sym typeface="Arial"/>
              </a:rPr>
              <a:t>Profils classés par score de matching</a:t>
            </a:r>
            <a:endParaRPr/>
          </a:p>
        </p:txBody>
      </p:sp>
      <p:sp>
        <p:nvSpPr>
          <p:cNvPr id="195" name="Google Shape;195;p16"/>
          <p:cNvSpPr/>
          <p:nvPr/>
        </p:nvSpPr>
        <p:spPr>
          <a:xfrm>
            <a:off x="868680" y="4617720"/>
            <a:ext cx="347472" cy="310896"/>
          </a:xfrm>
          <a:prstGeom prst="roundRect">
            <a:avLst>
              <a:gd fmla="val 16667" name="adj"/>
            </a:avLst>
          </a:prstGeom>
          <a:solidFill>
            <a:srgbClr val="DCF1E9"/>
          </a:solidFill>
          <a:ln cap="flat" cmpd="sng" w="10150">
            <a:solidFill>
              <a:srgbClr val="DCF1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6"/>
          <p:cNvSpPr txBox="1"/>
          <p:nvPr/>
        </p:nvSpPr>
        <p:spPr>
          <a:xfrm>
            <a:off x="868680" y="4636008"/>
            <a:ext cx="347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197" name="Google Shape;197;p16"/>
          <p:cNvSpPr txBox="1"/>
          <p:nvPr/>
        </p:nvSpPr>
        <p:spPr>
          <a:xfrm>
            <a:off x="1353312" y="4599432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Suivre la mission</a:t>
            </a:r>
            <a:endParaRPr/>
          </a:p>
        </p:txBody>
      </p:sp>
      <p:sp>
        <p:nvSpPr>
          <p:cNvPr id="198" name="Google Shape;198;p16"/>
          <p:cNvSpPr txBox="1"/>
          <p:nvPr/>
        </p:nvSpPr>
        <p:spPr>
          <a:xfrm>
            <a:off x="1353312" y="4882896"/>
            <a:ext cx="3886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96F6A"/>
                </a:solidFill>
                <a:latin typeface="Arial"/>
                <a:ea typeface="Arial"/>
                <a:cs typeface="Arial"/>
                <a:sym typeface="Arial"/>
              </a:rPr>
              <a:t>Ouverte → Pourvue → Terminée</a:t>
            </a:r>
            <a:endParaRPr/>
          </a:p>
        </p:txBody>
      </p:sp>
      <p:sp>
        <p:nvSpPr>
          <p:cNvPr id="199" name="Google Shape;199;p16"/>
          <p:cNvSpPr/>
          <p:nvPr/>
        </p:nvSpPr>
        <p:spPr>
          <a:xfrm>
            <a:off x="6263640" y="1325880"/>
            <a:ext cx="5303520" cy="4526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2E2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6"/>
          <p:cNvSpPr/>
          <p:nvPr/>
        </p:nvSpPr>
        <p:spPr>
          <a:xfrm>
            <a:off x="6537960" y="1600200"/>
            <a:ext cx="1234440" cy="310896"/>
          </a:xfrm>
          <a:prstGeom prst="roundRect">
            <a:avLst>
              <a:gd fmla="val 16667" name="adj"/>
            </a:avLst>
          </a:prstGeom>
          <a:solidFill>
            <a:srgbClr val="DCF1E9"/>
          </a:solidFill>
          <a:ln cap="flat" cmpd="sng" w="10150">
            <a:solidFill>
              <a:srgbClr val="DCF1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6"/>
          <p:cNvSpPr txBox="1"/>
          <p:nvPr/>
        </p:nvSpPr>
        <p:spPr>
          <a:xfrm>
            <a:off x="6537960" y="1618488"/>
            <a:ext cx="12344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INTÉRIMAIRE</a:t>
            </a:r>
            <a:endParaRPr/>
          </a:p>
        </p:txBody>
      </p:sp>
      <p:sp>
        <p:nvSpPr>
          <p:cNvPr id="202" name="Google Shape;202;p16"/>
          <p:cNvSpPr/>
          <p:nvPr/>
        </p:nvSpPr>
        <p:spPr>
          <a:xfrm>
            <a:off x="6537960" y="2148840"/>
            <a:ext cx="347472" cy="310896"/>
          </a:xfrm>
          <a:prstGeom prst="roundRect">
            <a:avLst>
              <a:gd fmla="val 16667" name="adj"/>
            </a:avLst>
          </a:prstGeom>
          <a:solidFill>
            <a:srgbClr val="DCF1E9"/>
          </a:solidFill>
          <a:ln cap="flat" cmpd="sng" w="10150">
            <a:solidFill>
              <a:srgbClr val="DCF1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6"/>
          <p:cNvSpPr txBox="1"/>
          <p:nvPr/>
        </p:nvSpPr>
        <p:spPr>
          <a:xfrm>
            <a:off x="6537960" y="2167128"/>
            <a:ext cx="347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/>
          </a:p>
        </p:txBody>
      </p:sp>
      <p:sp>
        <p:nvSpPr>
          <p:cNvPr id="204" name="Google Shape;204;p16"/>
          <p:cNvSpPr txBox="1"/>
          <p:nvPr/>
        </p:nvSpPr>
        <p:spPr>
          <a:xfrm>
            <a:off x="7022592" y="2130552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Créer son profil</a:t>
            </a:r>
            <a:endParaRPr/>
          </a:p>
        </p:txBody>
      </p:sp>
      <p:sp>
        <p:nvSpPr>
          <p:cNvPr id="205" name="Google Shape;205;p16"/>
          <p:cNvSpPr txBox="1"/>
          <p:nvPr/>
        </p:nvSpPr>
        <p:spPr>
          <a:xfrm>
            <a:off x="7022592" y="2414016"/>
            <a:ext cx="3886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96F6A"/>
                </a:solidFill>
                <a:latin typeface="Arial"/>
                <a:ea typeface="Arial"/>
                <a:cs typeface="Arial"/>
                <a:sym typeface="Arial"/>
              </a:rPr>
              <a:t>Localisation, disponibilité, compétences</a:t>
            </a:r>
            <a:endParaRPr/>
          </a:p>
        </p:txBody>
      </p:sp>
      <p:sp>
        <p:nvSpPr>
          <p:cNvPr id="206" name="Google Shape;206;p16"/>
          <p:cNvSpPr/>
          <p:nvPr/>
        </p:nvSpPr>
        <p:spPr>
          <a:xfrm>
            <a:off x="6537960" y="2971800"/>
            <a:ext cx="347472" cy="310896"/>
          </a:xfrm>
          <a:prstGeom prst="roundRect">
            <a:avLst>
              <a:gd fmla="val 16667" name="adj"/>
            </a:avLst>
          </a:prstGeom>
          <a:solidFill>
            <a:srgbClr val="DCF1E9"/>
          </a:solidFill>
          <a:ln cap="flat" cmpd="sng" w="10150">
            <a:solidFill>
              <a:srgbClr val="DCF1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6"/>
          <p:cNvSpPr txBox="1"/>
          <p:nvPr/>
        </p:nvSpPr>
        <p:spPr>
          <a:xfrm>
            <a:off x="6537960" y="2990088"/>
            <a:ext cx="347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/>
          </a:p>
        </p:txBody>
      </p:sp>
      <p:sp>
        <p:nvSpPr>
          <p:cNvPr id="208" name="Google Shape;208;p16"/>
          <p:cNvSpPr txBox="1"/>
          <p:nvPr/>
        </p:nvSpPr>
        <p:spPr>
          <a:xfrm>
            <a:off x="7022592" y="2953512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Décrire son expérience</a:t>
            </a:r>
            <a:endParaRPr/>
          </a:p>
        </p:txBody>
      </p:sp>
      <p:sp>
        <p:nvSpPr>
          <p:cNvPr id="209" name="Google Shape;209;p16"/>
          <p:cNvSpPr txBox="1"/>
          <p:nvPr/>
        </p:nvSpPr>
        <p:spPr>
          <a:xfrm>
            <a:off x="7022592" y="3236976"/>
            <a:ext cx="3886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96F6A"/>
                </a:solidFill>
                <a:latin typeface="Arial"/>
                <a:ea typeface="Arial"/>
                <a:cs typeface="Arial"/>
                <a:sym typeface="Arial"/>
              </a:rPr>
              <a:t>Expériences, diplômes, zone de mobilité</a:t>
            </a:r>
            <a:endParaRPr/>
          </a:p>
        </p:txBody>
      </p:sp>
      <p:sp>
        <p:nvSpPr>
          <p:cNvPr id="210" name="Google Shape;210;p16"/>
          <p:cNvSpPr/>
          <p:nvPr/>
        </p:nvSpPr>
        <p:spPr>
          <a:xfrm>
            <a:off x="6537960" y="3794760"/>
            <a:ext cx="347472" cy="310896"/>
          </a:xfrm>
          <a:prstGeom prst="roundRect">
            <a:avLst>
              <a:gd fmla="val 16667" name="adj"/>
            </a:avLst>
          </a:prstGeom>
          <a:solidFill>
            <a:srgbClr val="DCF1E9"/>
          </a:solidFill>
          <a:ln cap="flat" cmpd="sng" w="10150">
            <a:solidFill>
              <a:srgbClr val="DCF1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6"/>
          <p:cNvSpPr txBox="1"/>
          <p:nvPr/>
        </p:nvSpPr>
        <p:spPr>
          <a:xfrm>
            <a:off x="6537960" y="3813048"/>
            <a:ext cx="347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/>
          </a:p>
        </p:txBody>
      </p:sp>
      <p:sp>
        <p:nvSpPr>
          <p:cNvPr id="212" name="Google Shape;212;p16"/>
          <p:cNvSpPr txBox="1"/>
          <p:nvPr/>
        </p:nvSpPr>
        <p:spPr>
          <a:xfrm>
            <a:off x="7022592" y="3776472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Recevoir une mission</a:t>
            </a:r>
            <a:endParaRPr/>
          </a:p>
        </p:txBody>
      </p:sp>
      <p:sp>
        <p:nvSpPr>
          <p:cNvPr id="213" name="Google Shape;213;p16"/>
          <p:cNvSpPr txBox="1"/>
          <p:nvPr/>
        </p:nvSpPr>
        <p:spPr>
          <a:xfrm>
            <a:off x="7022592" y="4059936"/>
            <a:ext cx="3886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96F6A"/>
                </a:solidFill>
                <a:latin typeface="Arial"/>
                <a:ea typeface="Arial"/>
                <a:cs typeface="Arial"/>
                <a:sym typeface="Arial"/>
              </a:rPr>
              <a:t>Notification si le profil correspond</a:t>
            </a:r>
            <a:endParaRPr/>
          </a:p>
        </p:txBody>
      </p:sp>
      <p:sp>
        <p:nvSpPr>
          <p:cNvPr id="214" name="Google Shape;214;p16"/>
          <p:cNvSpPr/>
          <p:nvPr/>
        </p:nvSpPr>
        <p:spPr>
          <a:xfrm>
            <a:off x="6537960" y="4617720"/>
            <a:ext cx="347472" cy="310896"/>
          </a:xfrm>
          <a:prstGeom prst="roundRect">
            <a:avLst>
              <a:gd fmla="val 16667" name="adj"/>
            </a:avLst>
          </a:prstGeom>
          <a:solidFill>
            <a:srgbClr val="DCF1E9"/>
          </a:solidFill>
          <a:ln cap="flat" cmpd="sng" w="10150">
            <a:solidFill>
              <a:srgbClr val="DCF1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6"/>
          <p:cNvSpPr txBox="1"/>
          <p:nvPr/>
        </p:nvSpPr>
        <p:spPr>
          <a:xfrm>
            <a:off x="6537960" y="4636008"/>
            <a:ext cx="3474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16" name="Google Shape;216;p16"/>
          <p:cNvSpPr txBox="1"/>
          <p:nvPr/>
        </p:nvSpPr>
        <p:spPr>
          <a:xfrm>
            <a:off x="7022592" y="4599432"/>
            <a:ext cx="23774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Accepter ou refuser</a:t>
            </a:r>
            <a:endParaRPr/>
          </a:p>
        </p:txBody>
      </p:sp>
      <p:sp>
        <p:nvSpPr>
          <p:cNvPr id="217" name="Google Shape;217;p16"/>
          <p:cNvSpPr txBox="1"/>
          <p:nvPr/>
        </p:nvSpPr>
        <p:spPr>
          <a:xfrm>
            <a:off x="7022592" y="4882896"/>
            <a:ext cx="38862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96F6A"/>
                </a:solidFill>
                <a:latin typeface="Arial"/>
                <a:ea typeface="Arial"/>
                <a:cs typeface="Arial"/>
                <a:sym typeface="Arial"/>
              </a:rPr>
              <a:t>Réponse transmise à la plateforme</a:t>
            </a:r>
            <a:endParaRPr/>
          </a:p>
        </p:txBody>
      </p:sp>
      <p:sp>
        <p:nvSpPr>
          <p:cNvPr id="218" name="Google Shape;218;p16"/>
          <p:cNvSpPr txBox="1"/>
          <p:nvPr/>
        </p:nvSpPr>
        <p:spPr>
          <a:xfrm>
            <a:off x="502920" y="647395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Interimatch</a:t>
            </a:r>
            <a:endParaRPr/>
          </a:p>
        </p:txBody>
      </p:sp>
      <p:sp>
        <p:nvSpPr>
          <p:cNvPr id="219" name="Google Shape;219;p16"/>
          <p:cNvSpPr txBox="1"/>
          <p:nvPr/>
        </p:nvSpPr>
        <p:spPr>
          <a:xfrm>
            <a:off x="1508760" y="647395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96F6A"/>
                </a:solidFill>
                <a:latin typeface="Arial"/>
                <a:ea typeface="Arial"/>
                <a:cs typeface="Arial"/>
                <a:sym typeface="Arial"/>
              </a:rPr>
              <a:t>Les talents d’aujourd’hui, vos réussites de demain.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7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7"/>
          <p:cNvSpPr/>
          <p:nvPr/>
        </p:nvSpPr>
        <p:spPr>
          <a:xfrm>
            <a:off x="502920" y="384048"/>
            <a:ext cx="411480" cy="310896"/>
          </a:xfrm>
          <a:prstGeom prst="roundRect">
            <a:avLst>
              <a:gd fmla="val 16667" name="adj"/>
            </a:avLst>
          </a:prstGeom>
          <a:solidFill>
            <a:srgbClr val="DCF1E9"/>
          </a:solidFill>
          <a:ln cap="flat" cmpd="sng" w="10150">
            <a:solidFill>
              <a:srgbClr val="DCF1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7"/>
          <p:cNvSpPr txBox="1"/>
          <p:nvPr/>
        </p:nvSpPr>
        <p:spPr>
          <a:xfrm>
            <a:off x="502920" y="402336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/>
          </a:p>
        </p:txBody>
      </p:sp>
      <p:sp>
        <p:nvSpPr>
          <p:cNvPr id="227" name="Google Shape;227;p17"/>
          <p:cNvSpPr txBox="1"/>
          <p:nvPr/>
        </p:nvSpPr>
        <p:spPr>
          <a:xfrm>
            <a:off x="1051560" y="33832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C201E"/>
                </a:solidFill>
                <a:latin typeface="Georgia"/>
                <a:ea typeface="Georgia"/>
                <a:cs typeface="Georgia"/>
                <a:sym typeface="Georgia"/>
              </a:rPr>
              <a:t>Le cœur du POC : le matching</a:t>
            </a:r>
            <a:endParaRPr/>
          </a:p>
        </p:txBody>
      </p:sp>
      <p:sp>
        <p:nvSpPr>
          <p:cNvPr id="228" name="Google Shape;228;p17"/>
          <p:cNvSpPr txBox="1"/>
          <p:nvPr/>
        </p:nvSpPr>
        <p:spPr>
          <a:xfrm>
            <a:off x="1051560" y="80467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96F6A"/>
                </a:solidFill>
                <a:latin typeface="Arial"/>
                <a:ea typeface="Arial"/>
                <a:cs typeface="Arial"/>
                <a:sym typeface="Arial"/>
              </a:rPr>
              <a:t>Un système volontairement simple, explicable et testable.</a:t>
            </a:r>
            <a:endParaRPr/>
          </a:p>
        </p:txBody>
      </p:sp>
      <p:sp>
        <p:nvSpPr>
          <p:cNvPr id="229" name="Google Shape;229;p17"/>
          <p:cNvSpPr/>
          <p:nvPr/>
        </p:nvSpPr>
        <p:spPr>
          <a:xfrm>
            <a:off x="640080" y="1417320"/>
            <a:ext cx="251460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2E2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7"/>
          <p:cNvSpPr txBox="1"/>
          <p:nvPr/>
        </p:nvSpPr>
        <p:spPr>
          <a:xfrm>
            <a:off x="804671" y="1673352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94639"/>
                </a:solidFill>
                <a:latin typeface="Georgia"/>
                <a:ea typeface="Georgia"/>
                <a:cs typeface="Georgia"/>
                <a:sym typeface="Georgia"/>
              </a:rPr>
              <a:t>Disponibilité</a:t>
            </a:r>
            <a:endParaRPr/>
          </a:p>
        </p:txBody>
      </p:sp>
      <p:sp>
        <p:nvSpPr>
          <p:cNvPr id="231" name="Google Shape;231;p17"/>
          <p:cNvSpPr txBox="1"/>
          <p:nvPr/>
        </p:nvSpPr>
        <p:spPr>
          <a:xfrm>
            <a:off x="804671" y="2139696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96F6A"/>
                </a:solidFill>
                <a:latin typeface="Arial"/>
                <a:ea typeface="Arial"/>
                <a:cs typeface="Arial"/>
                <a:sym typeface="Arial"/>
              </a:rPr>
              <a:t>Filtre indispensable</a:t>
            </a:r>
            <a:endParaRPr/>
          </a:p>
        </p:txBody>
      </p:sp>
      <p:sp>
        <p:nvSpPr>
          <p:cNvPr id="232" name="Google Shape;232;p17"/>
          <p:cNvSpPr/>
          <p:nvPr/>
        </p:nvSpPr>
        <p:spPr>
          <a:xfrm>
            <a:off x="3456432" y="1417320"/>
            <a:ext cx="251460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2E2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7"/>
          <p:cNvSpPr txBox="1"/>
          <p:nvPr/>
        </p:nvSpPr>
        <p:spPr>
          <a:xfrm>
            <a:off x="3621024" y="1673352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94639"/>
                </a:solidFill>
                <a:latin typeface="Georgia"/>
                <a:ea typeface="Georgia"/>
                <a:cs typeface="Georgia"/>
                <a:sym typeface="Georgia"/>
              </a:rPr>
              <a:t>Localisation</a:t>
            </a:r>
            <a:endParaRPr/>
          </a:p>
        </p:txBody>
      </p:sp>
      <p:sp>
        <p:nvSpPr>
          <p:cNvPr id="234" name="Google Shape;234;p17"/>
          <p:cNvSpPr txBox="1"/>
          <p:nvPr/>
        </p:nvSpPr>
        <p:spPr>
          <a:xfrm>
            <a:off x="3621024" y="2139696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96F6A"/>
                </a:solidFill>
                <a:latin typeface="Arial"/>
                <a:ea typeface="Arial"/>
                <a:cs typeface="Arial"/>
                <a:sym typeface="Arial"/>
              </a:rPr>
              <a:t>Distance / zone</a:t>
            </a:r>
            <a:endParaRPr/>
          </a:p>
        </p:txBody>
      </p:sp>
      <p:sp>
        <p:nvSpPr>
          <p:cNvPr id="235" name="Google Shape;235;p17"/>
          <p:cNvSpPr/>
          <p:nvPr/>
        </p:nvSpPr>
        <p:spPr>
          <a:xfrm>
            <a:off x="6272784" y="1417320"/>
            <a:ext cx="251460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2E2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7"/>
          <p:cNvSpPr txBox="1"/>
          <p:nvPr/>
        </p:nvSpPr>
        <p:spPr>
          <a:xfrm>
            <a:off x="6437376" y="1673352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94639"/>
                </a:solidFill>
                <a:latin typeface="Georgia"/>
                <a:ea typeface="Georgia"/>
                <a:cs typeface="Georgia"/>
                <a:sym typeface="Georgia"/>
              </a:rPr>
              <a:t>Compétences</a:t>
            </a:r>
            <a:endParaRPr/>
          </a:p>
        </p:txBody>
      </p:sp>
      <p:sp>
        <p:nvSpPr>
          <p:cNvPr id="237" name="Google Shape;237;p17"/>
          <p:cNvSpPr txBox="1"/>
          <p:nvPr/>
        </p:nvSpPr>
        <p:spPr>
          <a:xfrm>
            <a:off x="6437376" y="2139696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96F6A"/>
                </a:solidFill>
                <a:latin typeface="Arial"/>
                <a:ea typeface="Arial"/>
                <a:cs typeface="Arial"/>
                <a:sym typeface="Arial"/>
              </a:rPr>
              <a:t>Correspondance métier</a:t>
            </a:r>
            <a:endParaRPr/>
          </a:p>
        </p:txBody>
      </p:sp>
      <p:sp>
        <p:nvSpPr>
          <p:cNvPr id="238" name="Google Shape;238;p17"/>
          <p:cNvSpPr/>
          <p:nvPr/>
        </p:nvSpPr>
        <p:spPr>
          <a:xfrm>
            <a:off x="9089136" y="1417320"/>
            <a:ext cx="251460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2E2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7"/>
          <p:cNvSpPr txBox="1"/>
          <p:nvPr/>
        </p:nvSpPr>
        <p:spPr>
          <a:xfrm>
            <a:off x="9253728" y="1673352"/>
            <a:ext cx="21488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094639"/>
                </a:solidFill>
                <a:latin typeface="Georgia"/>
                <a:ea typeface="Georgia"/>
                <a:cs typeface="Georgia"/>
                <a:sym typeface="Georgia"/>
              </a:rPr>
              <a:t>Expérience</a:t>
            </a:r>
            <a:endParaRPr/>
          </a:p>
        </p:txBody>
      </p:sp>
      <p:sp>
        <p:nvSpPr>
          <p:cNvPr id="240" name="Google Shape;240;p17"/>
          <p:cNvSpPr txBox="1"/>
          <p:nvPr/>
        </p:nvSpPr>
        <p:spPr>
          <a:xfrm>
            <a:off x="9253728" y="2139696"/>
            <a:ext cx="21031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696F6A"/>
                </a:solidFill>
                <a:latin typeface="Arial"/>
                <a:ea typeface="Arial"/>
                <a:cs typeface="Arial"/>
                <a:sym typeface="Arial"/>
              </a:rPr>
              <a:t>Niveau attendu</a:t>
            </a:r>
            <a:endParaRPr/>
          </a:p>
        </p:txBody>
      </p:sp>
      <p:sp>
        <p:nvSpPr>
          <p:cNvPr id="241" name="Google Shape;241;p17"/>
          <p:cNvSpPr/>
          <p:nvPr/>
        </p:nvSpPr>
        <p:spPr>
          <a:xfrm>
            <a:off x="640080" y="3246120"/>
            <a:ext cx="10972800" cy="1417320"/>
          </a:xfrm>
          <a:prstGeom prst="roundRect">
            <a:avLst>
              <a:gd fmla="val 16667" name="adj"/>
            </a:avLst>
          </a:prstGeom>
          <a:solidFill>
            <a:srgbClr val="094639"/>
          </a:solidFill>
          <a:ln cap="flat" cmpd="sng" w="10150">
            <a:solidFill>
              <a:srgbClr val="0946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7"/>
          <p:cNvSpPr txBox="1"/>
          <p:nvPr/>
        </p:nvSpPr>
        <p:spPr>
          <a:xfrm>
            <a:off x="960120" y="3593592"/>
            <a:ext cx="103327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Disponibilité  +  Localisation  +  Compétences  +  Expérience</a:t>
            </a:r>
            <a:endParaRPr/>
          </a:p>
        </p:txBody>
      </p:sp>
      <p:sp>
        <p:nvSpPr>
          <p:cNvPr id="243" name="Google Shape;243;p17"/>
          <p:cNvSpPr txBox="1"/>
          <p:nvPr/>
        </p:nvSpPr>
        <p:spPr>
          <a:xfrm>
            <a:off x="960120" y="4069080"/>
            <a:ext cx="1033272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DCF1E9"/>
                </a:solidFill>
                <a:latin typeface="Arial"/>
                <a:ea typeface="Arial"/>
                <a:cs typeface="Arial"/>
                <a:sym typeface="Arial"/>
              </a:rPr>
              <a:t>→ score de compatibilité → classement des candidats</a:t>
            </a:r>
            <a:endParaRPr/>
          </a:p>
        </p:txBody>
      </p:sp>
      <p:sp>
        <p:nvSpPr>
          <p:cNvPr id="244" name="Google Shape;244;p17"/>
          <p:cNvSpPr/>
          <p:nvPr/>
        </p:nvSpPr>
        <p:spPr>
          <a:xfrm>
            <a:off x="640080" y="5074920"/>
            <a:ext cx="10972800" cy="685800"/>
          </a:xfrm>
          <a:prstGeom prst="roundRect">
            <a:avLst>
              <a:gd fmla="val 16667" name="adj"/>
            </a:avLst>
          </a:prstGeom>
          <a:solidFill>
            <a:srgbClr val="FBEBE0"/>
          </a:solidFill>
          <a:ln cap="flat" cmpd="sng" w="10150">
            <a:solidFill>
              <a:srgbClr val="FBEBE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7"/>
          <p:cNvSpPr txBox="1"/>
          <p:nvPr/>
        </p:nvSpPr>
        <p:spPr>
          <a:xfrm>
            <a:off x="960120" y="5276088"/>
            <a:ext cx="102412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Pas d’IA complexe dans le POC : priorité à la fiabilité du parcours et à l’explicabilité du score.</a:t>
            </a:r>
            <a:endParaRPr/>
          </a:p>
        </p:txBody>
      </p:sp>
      <p:sp>
        <p:nvSpPr>
          <p:cNvPr id="246" name="Google Shape;246;p17"/>
          <p:cNvSpPr txBox="1"/>
          <p:nvPr/>
        </p:nvSpPr>
        <p:spPr>
          <a:xfrm>
            <a:off x="502920" y="647395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Interimatch</a:t>
            </a:r>
            <a:endParaRPr/>
          </a:p>
        </p:txBody>
      </p:sp>
      <p:sp>
        <p:nvSpPr>
          <p:cNvPr id="247" name="Google Shape;247;p17"/>
          <p:cNvSpPr txBox="1"/>
          <p:nvPr/>
        </p:nvSpPr>
        <p:spPr>
          <a:xfrm>
            <a:off x="1508760" y="647395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96F6A"/>
                </a:solidFill>
                <a:latin typeface="Arial"/>
                <a:ea typeface="Arial"/>
                <a:cs typeface="Arial"/>
                <a:sym typeface="Arial"/>
              </a:rPr>
              <a:t>Les talents d’aujourd’hui, vos réussites de demain.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8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502920" y="384048"/>
            <a:ext cx="411480" cy="310896"/>
          </a:xfrm>
          <a:prstGeom prst="roundRect">
            <a:avLst>
              <a:gd fmla="val 16667" name="adj"/>
            </a:avLst>
          </a:prstGeom>
          <a:solidFill>
            <a:srgbClr val="DCF1E9"/>
          </a:solidFill>
          <a:ln cap="flat" cmpd="sng" w="10150">
            <a:solidFill>
              <a:srgbClr val="DCF1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8"/>
          <p:cNvSpPr txBox="1"/>
          <p:nvPr/>
        </p:nvSpPr>
        <p:spPr>
          <a:xfrm>
            <a:off x="502920" y="402336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/>
          </a:p>
        </p:txBody>
      </p:sp>
      <p:sp>
        <p:nvSpPr>
          <p:cNvPr id="255" name="Google Shape;255;p18"/>
          <p:cNvSpPr txBox="1"/>
          <p:nvPr/>
        </p:nvSpPr>
        <p:spPr>
          <a:xfrm>
            <a:off x="1051560" y="33832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C201E"/>
                </a:solidFill>
                <a:latin typeface="Georgia"/>
                <a:ea typeface="Georgia"/>
                <a:cs typeface="Georgia"/>
                <a:sym typeface="Georgia"/>
              </a:rPr>
              <a:t>Périmètre fonctionnel du POC</a:t>
            </a:r>
            <a:endParaRPr/>
          </a:p>
        </p:txBody>
      </p:sp>
      <p:sp>
        <p:nvSpPr>
          <p:cNvPr id="256" name="Google Shape;256;p18"/>
          <p:cNvSpPr/>
          <p:nvPr/>
        </p:nvSpPr>
        <p:spPr>
          <a:xfrm>
            <a:off x="594360" y="1325880"/>
            <a:ext cx="7040880" cy="45262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2E2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8"/>
          <p:cNvSpPr/>
          <p:nvPr/>
        </p:nvSpPr>
        <p:spPr>
          <a:xfrm>
            <a:off x="868680" y="1600200"/>
            <a:ext cx="1600200" cy="310896"/>
          </a:xfrm>
          <a:prstGeom prst="roundRect">
            <a:avLst>
              <a:gd fmla="val 16667" name="adj"/>
            </a:avLst>
          </a:prstGeom>
          <a:solidFill>
            <a:srgbClr val="094639"/>
          </a:solidFill>
          <a:ln cap="flat" cmpd="sng" w="10150">
            <a:solidFill>
              <a:srgbClr val="0946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8"/>
          <p:cNvSpPr txBox="1"/>
          <p:nvPr/>
        </p:nvSpPr>
        <p:spPr>
          <a:xfrm>
            <a:off x="868680" y="1618488"/>
            <a:ext cx="1600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P0 • INDISPENSABLE</a:t>
            </a:r>
            <a:endParaRPr/>
          </a:p>
        </p:txBody>
      </p:sp>
      <p:sp>
        <p:nvSpPr>
          <p:cNvPr id="259" name="Google Shape;259;p18"/>
          <p:cNvSpPr/>
          <p:nvPr/>
        </p:nvSpPr>
        <p:spPr>
          <a:xfrm>
            <a:off x="914400" y="2148840"/>
            <a:ext cx="320040" cy="310896"/>
          </a:xfrm>
          <a:prstGeom prst="roundRect">
            <a:avLst>
              <a:gd fmla="val 16667" name="adj"/>
            </a:avLst>
          </a:prstGeom>
          <a:solidFill>
            <a:srgbClr val="DCF1E9"/>
          </a:solidFill>
          <a:ln cap="flat" cmpd="sng" w="10150">
            <a:solidFill>
              <a:srgbClr val="DCF1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8"/>
          <p:cNvSpPr txBox="1"/>
          <p:nvPr/>
        </p:nvSpPr>
        <p:spPr>
          <a:xfrm>
            <a:off x="914400" y="2167128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261" name="Google Shape;261;p18"/>
          <p:cNvSpPr txBox="1"/>
          <p:nvPr/>
        </p:nvSpPr>
        <p:spPr>
          <a:xfrm>
            <a:off x="1353312" y="2167128"/>
            <a:ext cx="2606100" cy="2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Comptes &amp; </a:t>
            </a:r>
            <a:r>
              <a:rPr b="1" lang="en-US" sz="1050">
                <a:solidFill>
                  <a:srgbClr val="1C201E"/>
                </a:solidFill>
              </a:rPr>
              <a:t>authentication</a:t>
            </a:r>
            <a:endParaRPr/>
          </a:p>
        </p:txBody>
      </p:sp>
      <p:sp>
        <p:nvSpPr>
          <p:cNvPr id="262" name="Google Shape;262;p18"/>
          <p:cNvSpPr/>
          <p:nvPr/>
        </p:nvSpPr>
        <p:spPr>
          <a:xfrm>
            <a:off x="914400" y="2752344"/>
            <a:ext cx="320040" cy="310896"/>
          </a:xfrm>
          <a:prstGeom prst="roundRect">
            <a:avLst>
              <a:gd fmla="val 16667" name="adj"/>
            </a:avLst>
          </a:prstGeom>
          <a:solidFill>
            <a:srgbClr val="DCF1E9"/>
          </a:solidFill>
          <a:ln cap="flat" cmpd="sng" w="10150">
            <a:solidFill>
              <a:srgbClr val="DCF1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8"/>
          <p:cNvSpPr txBox="1"/>
          <p:nvPr/>
        </p:nvSpPr>
        <p:spPr>
          <a:xfrm>
            <a:off x="914400" y="2770632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264" name="Google Shape;264;p18"/>
          <p:cNvSpPr txBox="1"/>
          <p:nvPr/>
        </p:nvSpPr>
        <p:spPr>
          <a:xfrm>
            <a:off x="1353312" y="2770632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Profils entreprise / intérimaire</a:t>
            </a:r>
            <a:endParaRPr/>
          </a:p>
        </p:txBody>
      </p:sp>
      <p:sp>
        <p:nvSpPr>
          <p:cNvPr id="265" name="Google Shape;265;p18"/>
          <p:cNvSpPr/>
          <p:nvPr/>
        </p:nvSpPr>
        <p:spPr>
          <a:xfrm>
            <a:off x="914400" y="3355848"/>
            <a:ext cx="320040" cy="310896"/>
          </a:xfrm>
          <a:prstGeom prst="roundRect">
            <a:avLst>
              <a:gd fmla="val 16667" name="adj"/>
            </a:avLst>
          </a:prstGeom>
          <a:solidFill>
            <a:srgbClr val="DCF1E9"/>
          </a:solidFill>
          <a:ln cap="flat" cmpd="sng" w="10150">
            <a:solidFill>
              <a:srgbClr val="DCF1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8"/>
          <p:cNvSpPr txBox="1"/>
          <p:nvPr/>
        </p:nvSpPr>
        <p:spPr>
          <a:xfrm>
            <a:off x="914400" y="3374136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267" name="Google Shape;267;p18"/>
          <p:cNvSpPr txBox="1"/>
          <p:nvPr/>
        </p:nvSpPr>
        <p:spPr>
          <a:xfrm>
            <a:off x="1353312" y="3374136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Création &amp; suivi des missions</a:t>
            </a:r>
            <a:endParaRPr/>
          </a:p>
        </p:txBody>
      </p:sp>
      <p:sp>
        <p:nvSpPr>
          <p:cNvPr id="268" name="Google Shape;268;p18"/>
          <p:cNvSpPr/>
          <p:nvPr/>
        </p:nvSpPr>
        <p:spPr>
          <a:xfrm>
            <a:off x="914400" y="3959352"/>
            <a:ext cx="320040" cy="310896"/>
          </a:xfrm>
          <a:prstGeom prst="roundRect">
            <a:avLst>
              <a:gd fmla="val 16667" name="adj"/>
            </a:avLst>
          </a:prstGeom>
          <a:solidFill>
            <a:srgbClr val="DCF1E9"/>
          </a:solidFill>
          <a:ln cap="flat" cmpd="sng" w="10150">
            <a:solidFill>
              <a:srgbClr val="DCF1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8"/>
          <p:cNvSpPr txBox="1"/>
          <p:nvPr/>
        </p:nvSpPr>
        <p:spPr>
          <a:xfrm>
            <a:off x="914400" y="3977639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270" name="Google Shape;270;p18"/>
          <p:cNvSpPr txBox="1"/>
          <p:nvPr/>
        </p:nvSpPr>
        <p:spPr>
          <a:xfrm>
            <a:off x="1353312" y="3977639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Matching &amp; scoring</a:t>
            </a:r>
            <a:endParaRPr/>
          </a:p>
        </p:txBody>
      </p:sp>
      <p:sp>
        <p:nvSpPr>
          <p:cNvPr id="271" name="Google Shape;271;p18"/>
          <p:cNvSpPr/>
          <p:nvPr/>
        </p:nvSpPr>
        <p:spPr>
          <a:xfrm>
            <a:off x="914400" y="4562856"/>
            <a:ext cx="320040" cy="310896"/>
          </a:xfrm>
          <a:prstGeom prst="roundRect">
            <a:avLst>
              <a:gd fmla="val 16667" name="adj"/>
            </a:avLst>
          </a:prstGeom>
          <a:solidFill>
            <a:srgbClr val="DCF1E9"/>
          </a:solidFill>
          <a:ln cap="flat" cmpd="sng" w="10150">
            <a:solidFill>
              <a:srgbClr val="DCF1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18"/>
          <p:cNvSpPr txBox="1"/>
          <p:nvPr/>
        </p:nvSpPr>
        <p:spPr>
          <a:xfrm>
            <a:off x="914400" y="4581144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273" name="Google Shape;273;p18"/>
          <p:cNvSpPr txBox="1"/>
          <p:nvPr/>
        </p:nvSpPr>
        <p:spPr>
          <a:xfrm>
            <a:off x="1353312" y="4581144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Dashboard</a:t>
            </a:r>
            <a:endParaRPr/>
          </a:p>
        </p:txBody>
      </p:sp>
      <p:sp>
        <p:nvSpPr>
          <p:cNvPr id="274" name="Google Shape;274;p18"/>
          <p:cNvSpPr/>
          <p:nvPr/>
        </p:nvSpPr>
        <p:spPr>
          <a:xfrm>
            <a:off x="4160520" y="2148840"/>
            <a:ext cx="320040" cy="310896"/>
          </a:xfrm>
          <a:prstGeom prst="roundRect">
            <a:avLst>
              <a:gd fmla="val 16667" name="adj"/>
            </a:avLst>
          </a:prstGeom>
          <a:solidFill>
            <a:srgbClr val="DCF1E9"/>
          </a:solidFill>
          <a:ln cap="flat" cmpd="sng" w="10150">
            <a:solidFill>
              <a:srgbClr val="DCF1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8"/>
          <p:cNvSpPr txBox="1"/>
          <p:nvPr/>
        </p:nvSpPr>
        <p:spPr>
          <a:xfrm>
            <a:off x="4160520" y="2167128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276" name="Google Shape;276;p18"/>
          <p:cNvSpPr txBox="1"/>
          <p:nvPr/>
        </p:nvSpPr>
        <p:spPr>
          <a:xfrm>
            <a:off x="4599431" y="2167128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Notifications</a:t>
            </a:r>
            <a:endParaRPr/>
          </a:p>
        </p:txBody>
      </p:sp>
      <p:sp>
        <p:nvSpPr>
          <p:cNvPr id="277" name="Google Shape;277;p18"/>
          <p:cNvSpPr/>
          <p:nvPr/>
        </p:nvSpPr>
        <p:spPr>
          <a:xfrm>
            <a:off x="4160520" y="2752344"/>
            <a:ext cx="320040" cy="310896"/>
          </a:xfrm>
          <a:prstGeom prst="roundRect">
            <a:avLst>
              <a:gd fmla="val 16667" name="adj"/>
            </a:avLst>
          </a:prstGeom>
          <a:solidFill>
            <a:srgbClr val="DCF1E9"/>
          </a:solidFill>
          <a:ln cap="flat" cmpd="sng" w="10150">
            <a:solidFill>
              <a:srgbClr val="DCF1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8"/>
          <p:cNvSpPr txBox="1"/>
          <p:nvPr/>
        </p:nvSpPr>
        <p:spPr>
          <a:xfrm>
            <a:off x="4160520" y="2770632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279" name="Google Shape;279;p18"/>
          <p:cNvSpPr txBox="1"/>
          <p:nvPr/>
        </p:nvSpPr>
        <p:spPr>
          <a:xfrm>
            <a:off x="4599431" y="2770632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Acceptation / refus</a:t>
            </a:r>
            <a:endParaRPr/>
          </a:p>
        </p:txBody>
      </p:sp>
      <p:sp>
        <p:nvSpPr>
          <p:cNvPr id="280" name="Google Shape;280;p18"/>
          <p:cNvSpPr/>
          <p:nvPr/>
        </p:nvSpPr>
        <p:spPr>
          <a:xfrm>
            <a:off x="4160520" y="3355848"/>
            <a:ext cx="320040" cy="310896"/>
          </a:xfrm>
          <a:prstGeom prst="roundRect">
            <a:avLst>
              <a:gd fmla="val 16667" name="adj"/>
            </a:avLst>
          </a:prstGeom>
          <a:solidFill>
            <a:srgbClr val="DCF1E9"/>
          </a:solidFill>
          <a:ln cap="flat" cmpd="sng" w="10150">
            <a:solidFill>
              <a:srgbClr val="DCF1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18"/>
          <p:cNvSpPr txBox="1"/>
          <p:nvPr/>
        </p:nvSpPr>
        <p:spPr>
          <a:xfrm>
            <a:off x="4160520" y="3374136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282" name="Google Shape;282;p18"/>
          <p:cNvSpPr txBox="1"/>
          <p:nvPr/>
        </p:nvSpPr>
        <p:spPr>
          <a:xfrm>
            <a:off x="4599431" y="3374136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Statuts des missions</a:t>
            </a:r>
            <a:endParaRPr/>
          </a:p>
        </p:txBody>
      </p:sp>
      <p:sp>
        <p:nvSpPr>
          <p:cNvPr id="283" name="Google Shape;283;p18"/>
          <p:cNvSpPr/>
          <p:nvPr/>
        </p:nvSpPr>
        <p:spPr>
          <a:xfrm>
            <a:off x="4160520" y="3959352"/>
            <a:ext cx="320040" cy="310896"/>
          </a:xfrm>
          <a:prstGeom prst="roundRect">
            <a:avLst>
              <a:gd fmla="val 16667" name="adj"/>
            </a:avLst>
          </a:prstGeom>
          <a:solidFill>
            <a:srgbClr val="DCF1E9"/>
          </a:solidFill>
          <a:ln cap="flat" cmpd="sng" w="10150">
            <a:solidFill>
              <a:srgbClr val="DCF1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8"/>
          <p:cNvSpPr txBox="1"/>
          <p:nvPr/>
        </p:nvSpPr>
        <p:spPr>
          <a:xfrm>
            <a:off x="4160520" y="3977639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285" name="Google Shape;285;p18"/>
          <p:cNvSpPr txBox="1"/>
          <p:nvPr/>
        </p:nvSpPr>
        <p:spPr>
          <a:xfrm>
            <a:off x="4599431" y="3977639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Données publiques</a:t>
            </a:r>
            <a:endParaRPr/>
          </a:p>
        </p:txBody>
      </p:sp>
      <p:sp>
        <p:nvSpPr>
          <p:cNvPr id="286" name="Google Shape;286;p18"/>
          <p:cNvSpPr/>
          <p:nvPr/>
        </p:nvSpPr>
        <p:spPr>
          <a:xfrm>
            <a:off x="4160520" y="4562856"/>
            <a:ext cx="320040" cy="310896"/>
          </a:xfrm>
          <a:prstGeom prst="roundRect">
            <a:avLst>
              <a:gd fmla="val 16667" name="adj"/>
            </a:avLst>
          </a:prstGeom>
          <a:solidFill>
            <a:srgbClr val="DCF1E9"/>
          </a:solidFill>
          <a:ln cap="flat" cmpd="sng" w="10150">
            <a:solidFill>
              <a:srgbClr val="DCF1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8"/>
          <p:cNvSpPr txBox="1"/>
          <p:nvPr/>
        </p:nvSpPr>
        <p:spPr>
          <a:xfrm>
            <a:off x="4160520" y="4581144"/>
            <a:ext cx="320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✓</a:t>
            </a:r>
            <a:endParaRPr/>
          </a:p>
        </p:txBody>
      </p:sp>
      <p:sp>
        <p:nvSpPr>
          <p:cNvPr id="288" name="Google Shape;288;p18"/>
          <p:cNvSpPr txBox="1"/>
          <p:nvPr/>
        </p:nvSpPr>
        <p:spPr>
          <a:xfrm>
            <a:off x="4599431" y="4581144"/>
            <a:ext cx="26060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Tests &amp; sécurité</a:t>
            </a:r>
            <a:endParaRPr/>
          </a:p>
        </p:txBody>
      </p:sp>
      <p:sp>
        <p:nvSpPr>
          <p:cNvPr id="289" name="Google Shape;289;p18"/>
          <p:cNvSpPr/>
          <p:nvPr/>
        </p:nvSpPr>
        <p:spPr>
          <a:xfrm>
            <a:off x="7909560" y="1325880"/>
            <a:ext cx="3657600" cy="1965960"/>
          </a:xfrm>
          <a:prstGeom prst="roundRect">
            <a:avLst>
              <a:gd fmla="val 16667" name="adj"/>
            </a:avLst>
          </a:prstGeom>
          <a:solidFill>
            <a:srgbClr val="DCF1E9"/>
          </a:solidFill>
          <a:ln cap="flat" cmpd="sng" w="10150">
            <a:solidFill>
              <a:srgbClr val="DCF1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8"/>
          <p:cNvSpPr/>
          <p:nvPr/>
        </p:nvSpPr>
        <p:spPr>
          <a:xfrm>
            <a:off x="8183879" y="1600200"/>
            <a:ext cx="502920" cy="310896"/>
          </a:xfrm>
          <a:prstGeom prst="roundRect">
            <a:avLst>
              <a:gd fmla="val 16667" name="adj"/>
            </a:avLst>
          </a:prstGeom>
          <a:solidFill>
            <a:srgbClr val="094639"/>
          </a:solidFill>
          <a:ln cap="flat" cmpd="sng" w="10150">
            <a:solidFill>
              <a:srgbClr val="0946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8"/>
          <p:cNvSpPr txBox="1"/>
          <p:nvPr/>
        </p:nvSpPr>
        <p:spPr>
          <a:xfrm>
            <a:off x="8183879" y="1618488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P1</a:t>
            </a:r>
            <a:endParaRPr/>
          </a:p>
        </p:txBody>
      </p:sp>
      <p:sp>
        <p:nvSpPr>
          <p:cNvPr id="292" name="Google Shape;292;p18"/>
          <p:cNvSpPr txBox="1"/>
          <p:nvPr/>
        </p:nvSpPr>
        <p:spPr>
          <a:xfrm>
            <a:off x="8183879" y="2148840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• Génération PDF / contrat</a:t>
            </a:r>
            <a:endParaRPr/>
          </a:p>
        </p:txBody>
      </p:sp>
      <p:sp>
        <p:nvSpPr>
          <p:cNvPr id="293" name="Google Shape;293;p18"/>
          <p:cNvSpPr txBox="1"/>
          <p:nvPr/>
        </p:nvSpPr>
        <p:spPr>
          <a:xfrm>
            <a:off x="8183879" y="2560320"/>
            <a:ext cx="28347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• Fermeture automatique</a:t>
            </a:r>
            <a:endParaRPr/>
          </a:p>
        </p:txBody>
      </p:sp>
      <p:sp>
        <p:nvSpPr>
          <p:cNvPr id="294" name="Google Shape;294;p18"/>
          <p:cNvSpPr/>
          <p:nvPr/>
        </p:nvSpPr>
        <p:spPr>
          <a:xfrm>
            <a:off x="7909560" y="3566160"/>
            <a:ext cx="3657600" cy="1417320"/>
          </a:xfrm>
          <a:prstGeom prst="roundRect">
            <a:avLst>
              <a:gd fmla="val 16667" name="adj"/>
            </a:avLst>
          </a:prstGeom>
          <a:solidFill>
            <a:srgbClr val="FBEBE0"/>
          </a:solidFill>
          <a:ln cap="flat" cmpd="sng" w="10150">
            <a:solidFill>
              <a:srgbClr val="FBEBE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8"/>
          <p:cNvSpPr/>
          <p:nvPr/>
        </p:nvSpPr>
        <p:spPr>
          <a:xfrm>
            <a:off x="8183879" y="3840480"/>
            <a:ext cx="502920" cy="310896"/>
          </a:xfrm>
          <a:prstGeom prst="roundRect">
            <a:avLst>
              <a:gd fmla="val 16667" name="adj"/>
            </a:avLst>
          </a:prstGeom>
          <a:solidFill>
            <a:srgbClr val="FF6837"/>
          </a:solidFill>
          <a:ln cap="flat" cmpd="sng" w="10150">
            <a:solidFill>
              <a:srgbClr val="FF68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8"/>
          <p:cNvSpPr txBox="1"/>
          <p:nvPr/>
        </p:nvSpPr>
        <p:spPr>
          <a:xfrm>
            <a:off x="8183879" y="3858768"/>
            <a:ext cx="502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P2</a:t>
            </a:r>
            <a:endParaRPr/>
          </a:p>
        </p:txBody>
      </p:sp>
      <p:sp>
        <p:nvSpPr>
          <p:cNvPr id="297" name="Google Shape;297;p18"/>
          <p:cNvSpPr txBox="1"/>
          <p:nvPr/>
        </p:nvSpPr>
        <p:spPr>
          <a:xfrm>
            <a:off x="8183879" y="4315968"/>
            <a:ext cx="2926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• Relance mission non </a:t>
            </a:r>
            <a:r>
              <a:rPr b="1" lang="en-US" sz="1100">
                <a:solidFill>
                  <a:srgbClr val="1C201E"/>
                </a:solidFill>
              </a:rPr>
              <a:t>pourvu</a:t>
            </a:r>
            <a:endParaRPr/>
          </a:p>
        </p:txBody>
      </p:sp>
      <p:sp>
        <p:nvSpPr>
          <p:cNvPr id="298" name="Google Shape;298;p18"/>
          <p:cNvSpPr txBox="1"/>
          <p:nvPr/>
        </p:nvSpPr>
        <p:spPr>
          <a:xfrm>
            <a:off x="8001000" y="5349240"/>
            <a:ext cx="33832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Règle : aucune fonctionnalité P1/P2 avant stabilisation du parcours P0.</a:t>
            </a:r>
            <a:endParaRPr/>
          </a:p>
        </p:txBody>
      </p:sp>
      <p:sp>
        <p:nvSpPr>
          <p:cNvPr id="299" name="Google Shape;299;p18"/>
          <p:cNvSpPr txBox="1"/>
          <p:nvPr/>
        </p:nvSpPr>
        <p:spPr>
          <a:xfrm>
            <a:off x="502920" y="647395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Interimatch</a:t>
            </a:r>
            <a:endParaRPr/>
          </a:p>
        </p:txBody>
      </p:sp>
      <p:sp>
        <p:nvSpPr>
          <p:cNvPr id="300" name="Google Shape;300;p18"/>
          <p:cNvSpPr txBox="1"/>
          <p:nvPr/>
        </p:nvSpPr>
        <p:spPr>
          <a:xfrm>
            <a:off x="1508760" y="647395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96F6A"/>
                </a:solidFill>
                <a:latin typeface="Arial"/>
                <a:ea typeface="Arial"/>
                <a:cs typeface="Arial"/>
                <a:sym typeface="Arial"/>
              </a:rPr>
              <a:t>Les talents d’aujourd’hui, vos réussites de demain.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9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9"/>
          <p:cNvSpPr/>
          <p:nvPr/>
        </p:nvSpPr>
        <p:spPr>
          <a:xfrm>
            <a:off x="502920" y="384048"/>
            <a:ext cx="411480" cy="310896"/>
          </a:xfrm>
          <a:prstGeom prst="roundRect">
            <a:avLst>
              <a:gd fmla="val 16667" name="adj"/>
            </a:avLst>
          </a:prstGeom>
          <a:solidFill>
            <a:srgbClr val="DCF1E9"/>
          </a:solidFill>
          <a:ln cap="flat" cmpd="sng" w="10150">
            <a:solidFill>
              <a:srgbClr val="DCF1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9"/>
          <p:cNvSpPr txBox="1"/>
          <p:nvPr/>
        </p:nvSpPr>
        <p:spPr>
          <a:xfrm>
            <a:off x="502920" y="402336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06</a:t>
            </a:r>
            <a:endParaRPr/>
          </a:p>
        </p:txBody>
      </p:sp>
      <p:sp>
        <p:nvSpPr>
          <p:cNvPr id="308" name="Google Shape;308;p19"/>
          <p:cNvSpPr txBox="1"/>
          <p:nvPr/>
        </p:nvSpPr>
        <p:spPr>
          <a:xfrm>
            <a:off x="1051560" y="33832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C201E"/>
                </a:solidFill>
                <a:latin typeface="Georgia"/>
                <a:ea typeface="Georgia"/>
                <a:cs typeface="Georgia"/>
                <a:sym typeface="Georgia"/>
              </a:rPr>
              <a:t>Automatisations n8n</a:t>
            </a:r>
            <a:endParaRPr/>
          </a:p>
        </p:txBody>
      </p:sp>
      <p:sp>
        <p:nvSpPr>
          <p:cNvPr id="309" name="Google Shape;309;p19"/>
          <p:cNvSpPr/>
          <p:nvPr/>
        </p:nvSpPr>
        <p:spPr>
          <a:xfrm>
            <a:off x="640080" y="1417320"/>
            <a:ext cx="5303520" cy="3108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2E2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9"/>
          <p:cNvSpPr/>
          <p:nvPr/>
        </p:nvSpPr>
        <p:spPr>
          <a:xfrm>
            <a:off x="914400" y="1691640"/>
            <a:ext cx="1051560" cy="310896"/>
          </a:xfrm>
          <a:prstGeom prst="roundRect">
            <a:avLst>
              <a:gd fmla="val 16667" name="adj"/>
            </a:avLst>
          </a:prstGeom>
          <a:solidFill>
            <a:srgbClr val="094639"/>
          </a:solidFill>
          <a:ln cap="flat" cmpd="sng" w="10150">
            <a:solidFill>
              <a:srgbClr val="0946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9"/>
          <p:cNvSpPr txBox="1"/>
          <p:nvPr/>
        </p:nvSpPr>
        <p:spPr>
          <a:xfrm>
            <a:off x="914400" y="1709928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 01</a:t>
            </a:r>
            <a:endParaRPr/>
          </a:p>
        </p:txBody>
      </p:sp>
      <p:sp>
        <p:nvSpPr>
          <p:cNvPr id="312" name="Google Shape;312;p19"/>
          <p:cNvSpPr txBox="1"/>
          <p:nvPr/>
        </p:nvSpPr>
        <p:spPr>
          <a:xfrm>
            <a:off x="914400" y="2148840"/>
            <a:ext cx="4114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94639"/>
                </a:solidFill>
                <a:latin typeface="Georgia"/>
                <a:ea typeface="Georgia"/>
                <a:cs typeface="Georgia"/>
                <a:sym typeface="Georgia"/>
              </a:rPr>
              <a:t>Notification des candidats</a:t>
            </a:r>
            <a:endParaRPr/>
          </a:p>
        </p:txBody>
      </p:sp>
      <p:sp>
        <p:nvSpPr>
          <p:cNvPr id="313" name="Google Shape;313;p19"/>
          <p:cNvSpPr txBox="1"/>
          <p:nvPr/>
        </p:nvSpPr>
        <p:spPr>
          <a:xfrm>
            <a:off x="914400" y="2528355"/>
            <a:ext cx="42978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Mission créée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Matching terminé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Webhook n8n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Notification des profils compatibles</a:t>
            </a:r>
            <a:endParaRPr/>
          </a:p>
        </p:txBody>
      </p:sp>
      <p:sp>
        <p:nvSpPr>
          <p:cNvPr id="314" name="Google Shape;314;p19"/>
          <p:cNvSpPr/>
          <p:nvPr/>
        </p:nvSpPr>
        <p:spPr>
          <a:xfrm>
            <a:off x="6236208" y="1417320"/>
            <a:ext cx="5303520" cy="3108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2E2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9"/>
          <p:cNvSpPr/>
          <p:nvPr/>
        </p:nvSpPr>
        <p:spPr>
          <a:xfrm>
            <a:off x="6510528" y="1691640"/>
            <a:ext cx="1051560" cy="310896"/>
          </a:xfrm>
          <a:prstGeom prst="roundRect">
            <a:avLst>
              <a:gd fmla="val 16667" name="adj"/>
            </a:avLst>
          </a:prstGeom>
          <a:solidFill>
            <a:srgbClr val="FF6837"/>
          </a:solidFill>
          <a:ln cap="flat" cmpd="sng" w="10150">
            <a:solidFill>
              <a:srgbClr val="FF68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9"/>
          <p:cNvSpPr txBox="1"/>
          <p:nvPr/>
        </p:nvSpPr>
        <p:spPr>
          <a:xfrm>
            <a:off x="6510528" y="1709928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 02</a:t>
            </a:r>
            <a:endParaRPr/>
          </a:p>
        </p:txBody>
      </p:sp>
      <p:sp>
        <p:nvSpPr>
          <p:cNvPr id="317" name="Google Shape;317;p19"/>
          <p:cNvSpPr txBox="1"/>
          <p:nvPr/>
        </p:nvSpPr>
        <p:spPr>
          <a:xfrm>
            <a:off x="6510528" y="2148840"/>
            <a:ext cx="4206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94639"/>
                </a:solidFill>
                <a:latin typeface="Georgia"/>
                <a:ea typeface="Georgia"/>
                <a:cs typeface="Georgia"/>
                <a:sym typeface="Georgia"/>
              </a:rPr>
              <a:t>Traitement de l’acceptation</a:t>
            </a:r>
            <a:endParaRPr/>
          </a:p>
        </p:txBody>
      </p:sp>
      <p:sp>
        <p:nvSpPr>
          <p:cNvPr id="318" name="Google Shape;318;p19"/>
          <p:cNvSpPr txBox="1"/>
          <p:nvPr/>
        </p:nvSpPr>
        <p:spPr>
          <a:xfrm>
            <a:off x="6510528" y="2528355"/>
            <a:ext cx="4297800" cy="19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Candidat accepte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Webhook n8n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Mise à jour du processus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↓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Entreprise informée</a:t>
            </a:r>
            <a:endParaRPr/>
          </a:p>
        </p:txBody>
      </p:sp>
      <p:sp>
        <p:nvSpPr>
          <p:cNvPr id="319" name="Google Shape;319;p19"/>
          <p:cNvSpPr/>
          <p:nvPr/>
        </p:nvSpPr>
        <p:spPr>
          <a:xfrm>
            <a:off x="640080" y="4892040"/>
            <a:ext cx="10899648" cy="777240"/>
          </a:xfrm>
          <a:prstGeom prst="roundRect">
            <a:avLst>
              <a:gd fmla="val 16667" name="adj"/>
            </a:avLst>
          </a:prstGeom>
          <a:solidFill>
            <a:srgbClr val="FBEBE0"/>
          </a:solidFill>
          <a:ln cap="flat" cmpd="sng" w="10150">
            <a:solidFill>
              <a:srgbClr val="FBEBE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9"/>
          <p:cNvSpPr txBox="1"/>
          <p:nvPr/>
        </p:nvSpPr>
        <p:spPr>
          <a:xfrm>
            <a:off x="914400" y="5138928"/>
            <a:ext cx="10332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Évolutions si temps disponible : génération de document • relance • fermeture automatique • journalisation</a:t>
            </a:r>
            <a:endParaRPr/>
          </a:p>
        </p:txBody>
      </p:sp>
      <p:sp>
        <p:nvSpPr>
          <p:cNvPr id="321" name="Google Shape;321;p19"/>
          <p:cNvSpPr txBox="1"/>
          <p:nvPr/>
        </p:nvSpPr>
        <p:spPr>
          <a:xfrm>
            <a:off x="502920" y="647395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Interimatch</a:t>
            </a:r>
            <a:endParaRPr/>
          </a:p>
        </p:txBody>
      </p:sp>
      <p:sp>
        <p:nvSpPr>
          <p:cNvPr id="322" name="Google Shape;322;p19"/>
          <p:cNvSpPr txBox="1"/>
          <p:nvPr/>
        </p:nvSpPr>
        <p:spPr>
          <a:xfrm>
            <a:off x="1508760" y="647395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96F6A"/>
                </a:solidFill>
                <a:latin typeface="Arial"/>
                <a:ea typeface="Arial"/>
                <a:cs typeface="Arial"/>
                <a:sym typeface="Arial"/>
              </a:rPr>
              <a:t>Les talents d’aujourd’hui, vos réussites de demain.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2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20"/>
          <p:cNvSpPr/>
          <p:nvPr/>
        </p:nvSpPr>
        <p:spPr>
          <a:xfrm>
            <a:off x="502920" y="384048"/>
            <a:ext cx="411480" cy="310896"/>
          </a:xfrm>
          <a:prstGeom prst="roundRect">
            <a:avLst>
              <a:gd fmla="val 16667" name="adj"/>
            </a:avLst>
          </a:prstGeom>
          <a:solidFill>
            <a:srgbClr val="DCF1E9"/>
          </a:solidFill>
          <a:ln cap="flat" cmpd="sng" w="10150">
            <a:solidFill>
              <a:srgbClr val="DCF1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0"/>
          <p:cNvSpPr txBox="1"/>
          <p:nvPr/>
        </p:nvSpPr>
        <p:spPr>
          <a:xfrm>
            <a:off x="502920" y="402336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07</a:t>
            </a:r>
            <a:endParaRPr/>
          </a:p>
        </p:txBody>
      </p:sp>
      <p:sp>
        <p:nvSpPr>
          <p:cNvPr id="330" name="Google Shape;330;p20"/>
          <p:cNvSpPr txBox="1"/>
          <p:nvPr/>
        </p:nvSpPr>
        <p:spPr>
          <a:xfrm>
            <a:off x="1051560" y="33832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C201E"/>
                </a:solidFill>
                <a:latin typeface="Georgia"/>
                <a:ea typeface="Georgia"/>
                <a:cs typeface="Georgia"/>
                <a:sym typeface="Georgia"/>
              </a:rPr>
              <a:t>Architecture et données</a:t>
            </a:r>
            <a:endParaRPr/>
          </a:p>
        </p:txBody>
      </p:sp>
      <p:sp>
        <p:nvSpPr>
          <p:cNvPr id="331" name="Google Shape;331;p20"/>
          <p:cNvSpPr/>
          <p:nvPr/>
        </p:nvSpPr>
        <p:spPr>
          <a:xfrm>
            <a:off x="594360" y="1417320"/>
            <a:ext cx="251460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2E2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0"/>
          <p:cNvSpPr txBox="1"/>
          <p:nvPr/>
        </p:nvSpPr>
        <p:spPr>
          <a:xfrm>
            <a:off x="758952" y="166420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94639"/>
                </a:solidFill>
                <a:latin typeface="Georgia"/>
                <a:ea typeface="Georgia"/>
                <a:cs typeface="Georgia"/>
                <a:sym typeface="Georgia"/>
              </a:rPr>
              <a:t>Frontend</a:t>
            </a:r>
            <a:endParaRPr/>
          </a:p>
        </p:txBody>
      </p:sp>
      <p:sp>
        <p:nvSpPr>
          <p:cNvPr id="333" name="Google Shape;333;p20"/>
          <p:cNvSpPr txBox="1"/>
          <p:nvPr/>
        </p:nvSpPr>
        <p:spPr>
          <a:xfrm>
            <a:off x="758952" y="2084831"/>
            <a:ext cx="21030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React / TypeScrip</a:t>
            </a:r>
            <a:endParaRPr/>
          </a:p>
        </p:txBody>
      </p:sp>
      <p:sp>
        <p:nvSpPr>
          <p:cNvPr id="334" name="Google Shape;334;p20"/>
          <p:cNvSpPr txBox="1"/>
          <p:nvPr/>
        </p:nvSpPr>
        <p:spPr>
          <a:xfrm>
            <a:off x="758952" y="2377440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6F6A"/>
                </a:solidFill>
                <a:latin typeface="Arial"/>
                <a:ea typeface="Arial"/>
                <a:cs typeface="Arial"/>
                <a:sym typeface="Arial"/>
              </a:rPr>
              <a:t>Yrieix</a:t>
            </a:r>
            <a:endParaRPr/>
          </a:p>
        </p:txBody>
      </p:sp>
      <p:sp>
        <p:nvSpPr>
          <p:cNvPr id="335" name="Google Shape;335;p20"/>
          <p:cNvSpPr txBox="1"/>
          <p:nvPr/>
        </p:nvSpPr>
        <p:spPr>
          <a:xfrm>
            <a:off x="3136391" y="1874519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683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36" name="Google Shape;336;p20"/>
          <p:cNvSpPr/>
          <p:nvPr/>
        </p:nvSpPr>
        <p:spPr>
          <a:xfrm>
            <a:off x="3447288" y="1417320"/>
            <a:ext cx="251460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2E2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0"/>
          <p:cNvSpPr txBox="1"/>
          <p:nvPr/>
        </p:nvSpPr>
        <p:spPr>
          <a:xfrm>
            <a:off x="3611880" y="166420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94639"/>
                </a:solidFill>
                <a:latin typeface="Georgia"/>
                <a:ea typeface="Georgia"/>
                <a:cs typeface="Georgia"/>
                <a:sym typeface="Georgia"/>
              </a:rPr>
              <a:t>Backend</a:t>
            </a:r>
            <a:endParaRPr/>
          </a:p>
        </p:txBody>
      </p:sp>
      <p:sp>
        <p:nvSpPr>
          <p:cNvPr id="338" name="Google Shape;338;p20"/>
          <p:cNvSpPr txBox="1"/>
          <p:nvPr/>
        </p:nvSpPr>
        <p:spPr>
          <a:xfrm>
            <a:off x="3611880" y="1938531"/>
            <a:ext cx="2103000" cy="4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100">
                <a:solidFill>
                  <a:schemeClr val="dk1"/>
                </a:solidFill>
              </a:rPr>
              <a:t>API / Node.js / TypeScript / Mongodb</a:t>
            </a:r>
            <a:endParaRPr/>
          </a:p>
        </p:txBody>
      </p:sp>
      <p:sp>
        <p:nvSpPr>
          <p:cNvPr id="339" name="Google Shape;339;p20"/>
          <p:cNvSpPr txBox="1"/>
          <p:nvPr/>
        </p:nvSpPr>
        <p:spPr>
          <a:xfrm>
            <a:off x="3611880" y="2377440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6F6A"/>
                </a:solidFill>
                <a:latin typeface="Arial"/>
                <a:ea typeface="Arial"/>
                <a:cs typeface="Arial"/>
                <a:sym typeface="Arial"/>
              </a:rPr>
              <a:t>Flavien</a:t>
            </a:r>
            <a:endParaRPr/>
          </a:p>
        </p:txBody>
      </p:sp>
      <p:sp>
        <p:nvSpPr>
          <p:cNvPr id="340" name="Google Shape;340;p20"/>
          <p:cNvSpPr txBox="1"/>
          <p:nvPr/>
        </p:nvSpPr>
        <p:spPr>
          <a:xfrm>
            <a:off x="5989320" y="1874519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683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41" name="Google Shape;341;p20"/>
          <p:cNvSpPr/>
          <p:nvPr/>
        </p:nvSpPr>
        <p:spPr>
          <a:xfrm>
            <a:off x="6300216" y="1417320"/>
            <a:ext cx="251460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2E2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20"/>
          <p:cNvSpPr txBox="1"/>
          <p:nvPr/>
        </p:nvSpPr>
        <p:spPr>
          <a:xfrm>
            <a:off x="6464808" y="166420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94639"/>
                </a:solidFill>
                <a:latin typeface="Georgia"/>
                <a:ea typeface="Georgia"/>
                <a:cs typeface="Georgia"/>
                <a:sym typeface="Georgia"/>
              </a:rPr>
              <a:t>ATS</a:t>
            </a:r>
            <a:endParaRPr/>
          </a:p>
        </p:txBody>
      </p:sp>
      <p:sp>
        <p:nvSpPr>
          <p:cNvPr id="343" name="Google Shape;343;p20"/>
          <p:cNvSpPr txBox="1"/>
          <p:nvPr/>
        </p:nvSpPr>
        <p:spPr>
          <a:xfrm>
            <a:off x="6464808" y="2084831"/>
            <a:ext cx="2103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201E"/>
                </a:solidFill>
              </a:rPr>
              <a:t>Python / JavaScript</a:t>
            </a:r>
            <a:endParaRPr/>
          </a:p>
        </p:txBody>
      </p:sp>
      <p:sp>
        <p:nvSpPr>
          <p:cNvPr id="344" name="Google Shape;344;p20"/>
          <p:cNvSpPr txBox="1"/>
          <p:nvPr/>
        </p:nvSpPr>
        <p:spPr>
          <a:xfrm>
            <a:off x="6464808" y="2377440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6F6A"/>
                </a:solidFill>
                <a:latin typeface="Arial"/>
                <a:ea typeface="Arial"/>
                <a:cs typeface="Arial"/>
                <a:sym typeface="Arial"/>
              </a:rPr>
              <a:t>Aude</a:t>
            </a:r>
            <a:endParaRPr/>
          </a:p>
        </p:txBody>
      </p:sp>
      <p:sp>
        <p:nvSpPr>
          <p:cNvPr id="345" name="Google Shape;345;p20"/>
          <p:cNvSpPr txBox="1"/>
          <p:nvPr/>
        </p:nvSpPr>
        <p:spPr>
          <a:xfrm>
            <a:off x="8842248" y="1874519"/>
            <a:ext cx="2743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6837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/>
          </a:p>
        </p:txBody>
      </p:sp>
      <p:sp>
        <p:nvSpPr>
          <p:cNvPr id="346" name="Google Shape;346;p20"/>
          <p:cNvSpPr/>
          <p:nvPr/>
        </p:nvSpPr>
        <p:spPr>
          <a:xfrm>
            <a:off x="9153144" y="1417320"/>
            <a:ext cx="2514600" cy="132588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2E2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0"/>
          <p:cNvSpPr txBox="1"/>
          <p:nvPr/>
        </p:nvSpPr>
        <p:spPr>
          <a:xfrm>
            <a:off x="9317736" y="1664208"/>
            <a:ext cx="2103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94639"/>
                </a:solidFill>
                <a:latin typeface="Georgia"/>
                <a:ea typeface="Georgia"/>
                <a:cs typeface="Georgia"/>
                <a:sym typeface="Georgia"/>
              </a:rPr>
              <a:t>n8n</a:t>
            </a:r>
            <a:endParaRPr/>
          </a:p>
        </p:txBody>
      </p:sp>
      <p:sp>
        <p:nvSpPr>
          <p:cNvPr id="348" name="Google Shape;348;p20"/>
          <p:cNvSpPr txBox="1"/>
          <p:nvPr/>
        </p:nvSpPr>
        <p:spPr>
          <a:xfrm>
            <a:off x="9317736" y="2084831"/>
            <a:ext cx="21030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rgbClr val="1C201E"/>
                </a:solidFill>
              </a:rPr>
              <a:t>JavaScript / Python</a:t>
            </a:r>
            <a:endParaRPr/>
          </a:p>
        </p:txBody>
      </p:sp>
      <p:sp>
        <p:nvSpPr>
          <p:cNvPr id="349" name="Google Shape;349;p20"/>
          <p:cNvSpPr txBox="1"/>
          <p:nvPr/>
        </p:nvSpPr>
        <p:spPr>
          <a:xfrm>
            <a:off x="9317736" y="2377440"/>
            <a:ext cx="21031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96F6A"/>
                </a:solidFill>
                <a:latin typeface="Arial"/>
                <a:ea typeface="Arial"/>
                <a:cs typeface="Arial"/>
                <a:sym typeface="Arial"/>
              </a:rPr>
              <a:t>Abdessalam + Jimmy</a:t>
            </a:r>
            <a:endParaRPr/>
          </a:p>
        </p:txBody>
      </p:sp>
      <p:sp>
        <p:nvSpPr>
          <p:cNvPr id="350" name="Google Shape;350;p20"/>
          <p:cNvSpPr/>
          <p:nvPr/>
        </p:nvSpPr>
        <p:spPr>
          <a:xfrm>
            <a:off x="594360" y="3154680"/>
            <a:ext cx="5303520" cy="1920240"/>
          </a:xfrm>
          <a:prstGeom prst="roundRect">
            <a:avLst>
              <a:gd fmla="val 16667" name="adj"/>
            </a:avLst>
          </a:prstGeom>
          <a:solidFill>
            <a:srgbClr val="094639"/>
          </a:solidFill>
          <a:ln cap="flat" cmpd="sng" w="10150">
            <a:solidFill>
              <a:srgbClr val="0946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20"/>
          <p:cNvSpPr txBox="1"/>
          <p:nvPr/>
        </p:nvSpPr>
        <p:spPr>
          <a:xfrm>
            <a:off x="868671" y="3282700"/>
            <a:ext cx="4389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Données applicatives</a:t>
            </a:r>
            <a:endParaRPr/>
          </a:p>
        </p:txBody>
      </p:sp>
      <p:sp>
        <p:nvSpPr>
          <p:cNvPr id="352" name="Google Shape;352;p20"/>
          <p:cNvSpPr txBox="1"/>
          <p:nvPr/>
        </p:nvSpPr>
        <p:spPr>
          <a:xfrm>
            <a:off x="868742" y="3803495"/>
            <a:ext cx="43890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CF1E9"/>
                </a:solidFill>
                <a:latin typeface="Arial"/>
                <a:ea typeface="Arial"/>
                <a:cs typeface="Arial"/>
                <a:sym typeface="Arial"/>
              </a:rPr>
              <a:t>Base relationnelle</a:t>
            </a:r>
            <a:endParaRPr b="0" i="0" sz="1200" u="none" cap="none" strike="noStrike">
              <a:solidFill>
                <a:srgbClr val="DCF1E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DCF1E9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Utilisateurs • entreprises • missions • contrats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53" name="Google Shape;353;p20"/>
          <p:cNvSpPr/>
          <p:nvPr/>
        </p:nvSpPr>
        <p:spPr>
          <a:xfrm>
            <a:off x="6236208" y="3154680"/>
            <a:ext cx="5257800" cy="19202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2E2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20"/>
          <p:cNvSpPr txBox="1"/>
          <p:nvPr/>
        </p:nvSpPr>
        <p:spPr>
          <a:xfrm>
            <a:off x="6510528" y="3282695"/>
            <a:ext cx="256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94639"/>
                </a:solidFill>
                <a:latin typeface="Georgia"/>
                <a:ea typeface="Georgia"/>
                <a:cs typeface="Georgia"/>
                <a:sym typeface="Georgia"/>
              </a:rPr>
              <a:t>Données publiques</a:t>
            </a:r>
            <a:endParaRPr/>
          </a:p>
        </p:txBody>
      </p:sp>
      <p:sp>
        <p:nvSpPr>
          <p:cNvPr id="355" name="Google Shape;355;p20"/>
          <p:cNvSpPr txBox="1"/>
          <p:nvPr/>
        </p:nvSpPr>
        <p:spPr>
          <a:xfrm>
            <a:off x="6510528" y="3793320"/>
            <a:ext cx="43890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France Travail • INSEE / Sirene • DARES</a:t>
            </a:r>
            <a:endParaRPr b="0" i="0" sz="1200" u="none" cap="none" strike="noStrike">
              <a:solidFill>
                <a:srgbClr val="1C201E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Récupération → nettoyage → normalisation → exploitation</a:t>
            </a:r>
            <a:endParaRPr/>
          </a:p>
        </p:txBody>
      </p:sp>
      <p:sp>
        <p:nvSpPr>
          <p:cNvPr id="356" name="Google Shape;356;p20"/>
          <p:cNvSpPr txBox="1"/>
          <p:nvPr/>
        </p:nvSpPr>
        <p:spPr>
          <a:xfrm>
            <a:off x="502920" y="647395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Interimatch</a:t>
            </a:r>
            <a:endParaRPr/>
          </a:p>
        </p:txBody>
      </p:sp>
      <p:sp>
        <p:nvSpPr>
          <p:cNvPr id="357" name="Google Shape;357;p20"/>
          <p:cNvSpPr txBox="1"/>
          <p:nvPr/>
        </p:nvSpPr>
        <p:spPr>
          <a:xfrm>
            <a:off x="1508760" y="647395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96F6A"/>
                </a:solidFill>
                <a:latin typeface="Arial"/>
                <a:ea typeface="Arial"/>
                <a:cs typeface="Arial"/>
                <a:sym typeface="Arial"/>
              </a:rPr>
              <a:t>Les talents d’aujourd’hui, vos réussites de demain.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2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1"/>
          <p:cNvSpPr/>
          <p:nvPr/>
        </p:nvSpPr>
        <p:spPr>
          <a:xfrm>
            <a:off x="502920" y="384048"/>
            <a:ext cx="411480" cy="310896"/>
          </a:xfrm>
          <a:prstGeom prst="roundRect">
            <a:avLst>
              <a:gd fmla="val 16667" name="adj"/>
            </a:avLst>
          </a:prstGeom>
          <a:solidFill>
            <a:srgbClr val="DCF1E9"/>
          </a:solidFill>
          <a:ln cap="flat" cmpd="sng" w="10150">
            <a:solidFill>
              <a:srgbClr val="DCF1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21"/>
          <p:cNvSpPr txBox="1"/>
          <p:nvPr/>
        </p:nvSpPr>
        <p:spPr>
          <a:xfrm>
            <a:off x="502920" y="402336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08</a:t>
            </a:r>
            <a:endParaRPr/>
          </a:p>
        </p:txBody>
      </p:sp>
      <p:sp>
        <p:nvSpPr>
          <p:cNvPr id="365" name="Google Shape;365;p21"/>
          <p:cNvSpPr txBox="1"/>
          <p:nvPr/>
        </p:nvSpPr>
        <p:spPr>
          <a:xfrm>
            <a:off x="1051560" y="33832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C201E"/>
                </a:solidFill>
                <a:latin typeface="Georgia"/>
                <a:ea typeface="Georgia"/>
                <a:cs typeface="Georgia"/>
                <a:sym typeface="Georgia"/>
              </a:rPr>
              <a:t>L’équipe</a:t>
            </a:r>
            <a:endParaRPr/>
          </a:p>
        </p:txBody>
      </p:sp>
      <p:sp>
        <p:nvSpPr>
          <p:cNvPr id="366" name="Google Shape;366;p21"/>
          <p:cNvSpPr txBox="1"/>
          <p:nvPr/>
        </p:nvSpPr>
        <p:spPr>
          <a:xfrm>
            <a:off x="1051560" y="804672"/>
            <a:ext cx="98755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96F6A"/>
                </a:solidFill>
                <a:latin typeface="Arial"/>
                <a:ea typeface="Arial"/>
                <a:cs typeface="Arial"/>
                <a:sym typeface="Arial"/>
              </a:rPr>
              <a:t>5 personnes, 4 pôles qui avancent en parallèle.</a:t>
            </a:r>
            <a:endParaRPr/>
          </a:p>
        </p:txBody>
      </p:sp>
      <p:sp>
        <p:nvSpPr>
          <p:cNvPr id="367" name="Google Shape;367;p21"/>
          <p:cNvSpPr/>
          <p:nvPr/>
        </p:nvSpPr>
        <p:spPr>
          <a:xfrm>
            <a:off x="594360" y="1600200"/>
            <a:ext cx="1965960" cy="1965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2E2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21"/>
          <p:cNvSpPr/>
          <p:nvPr/>
        </p:nvSpPr>
        <p:spPr>
          <a:xfrm>
            <a:off x="1252728" y="1874519"/>
            <a:ext cx="658368" cy="658368"/>
          </a:xfrm>
          <a:prstGeom prst="ellipse">
            <a:avLst/>
          </a:prstGeom>
          <a:solidFill>
            <a:srgbClr val="DCF1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21"/>
          <p:cNvSpPr txBox="1"/>
          <p:nvPr/>
        </p:nvSpPr>
        <p:spPr>
          <a:xfrm>
            <a:off x="1252728" y="2029968"/>
            <a:ext cx="6585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1" lang="en-US" sz="1300">
                <a:solidFill>
                  <a:srgbClr val="094639"/>
                </a:solidFill>
              </a:rPr>
              <a:t>DF</a:t>
            </a:r>
            <a:endParaRPr/>
          </a:p>
        </p:txBody>
      </p:sp>
      <p:sp>
        <p:nvSpPr>
          <p:cNvPr id="370" name="Google Shape;370;p21"/>
          <p:cNvSpPr txBox="1"/>
          <p:nvPr/>
        </p:nvSpPr>
        <p:spPr>
          <a:xfrm>
            <a:off x="740664" y="2761488"/>
            <a:ext cx="16733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Yrieix de Foucauld</a:t>
            </a:r>
            <a:endParaRPr/>
          </a:p>
        </p:txBody>
      </p:sp>
      <p:sp>
        <p:nvSpPr>
          <p:cNvPr id="371" name="Google Shape;371;p21"/>
          <p:cNvSpPr/>
          <p:nvPr/>
        </p:nvSpPr>
        <p:spPr>
          <a:xfrm>
            <a:off x="1097280" y="3182112"/>
            <a:ext cx="960120" cy="310896"/>
          </a:xfrm>
          <a:prstGeom prst="roundRect">
            <a:avLst>
              <a:gd fmla="val 16667" name="adj"/>
            </a:avLst>
          </a:prstGeom>
          <a:solidFill>
            <a:srgbClr val="094639"/>
          </a:solidFill>
          <a:ln cap="flat" cmpd="sng" w="10150">
            <a:solidFill>
              <a:srgbClr val="0946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21"/>
          <p:cNvSpPr txBox="1"/>
          <p:nvPr/>
        </p:nvSpPr>
        <p:spPr>
          <a:xfrm>
            <a:off x="1097280" y="3200400"/>
            <a:ext cx="960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/>
          </a:p>
        </p:txBody>
      </p:sp>
      <p:sp>
        <p:nvSpPr>
          <p:cNvPr id="373" name="Google Shape;373;p21"/>
          <p:cNvSpPr/>
          <p:nvPr/>
        </p:nvSpPr>
        <p:spPr>
          <a:xfrm>
            <a:off x="2862072" y="1600200"/>
            <a:ext cx="1965960" cy="1965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2E2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1"/>
          <p:cNvSpPr/>
          <p:nvPr/>
        </p:nvSpPr>
        <p:spPr>
          <a:xfrm>
            <a:off x="3520439" y="1874519"/>
            <a:ext cx="658368" cy="658368"/>
          </a:xfrm>
          <a:prstGeom prst="ellipse">
            <a:avLst/>
          </a:prstGeom>
          <a:solidFill>
            <a:srgbClr val="DCF1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21"/>
          <p:cNvSpPr txBox="1"/>
          <p:nvPr/>
        </p:nvSpPr>
        <p:spPr>
          <a:xfrm>
            <a:off x="3520439" y="2029968"/>
            <a:ext cx="6583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FW</a:t>
            </a:r>
            <a:endParaRPr/>
          </a:p>
        </p:txBody>
      </p:sp>
      <p:sp>
        <p:nvSpPr>
          <p:cNvPr id="376" name="Google Shape;376;p21"/>
          <p:cNvSpPr txBox="1"/>
          <p:nvPr/>
        </p:nvSpPr>
        <p:spPr>
          <a:xfrm>
            <a:off x="3008376" y="2761488"/>
            <a:ext cx="16733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Flavien Walkowiak</a:t>
            </a:r>
            <a:endParaRPr/>
          </a:p>
        </p:txBody>
      </p:sp>
      <p:sp>
        <p:nvSpPr>
          <p:cNvPr id="377" name="Google Shape;377;p21"/>
          <p:cNvSpPr/>
          <p:nvPr/>
        </p:nvSpPr>
        <p:spPr>
          <a:xfrm>
            <a:off x="3364991" y="3182112"/>
            <a:ext cx="960120" cy="310896"/>
          </a:xfrm>
          <a:prstGeom prst="roundRect">
            <a:avLst>
              <a:gd fmla="val 16667" name="adj"/>
            </a:avLst>
          </a:prstGeom>
          <a:solidFill>
            <a:srgbClr val="094639"/>
          </a:solidFill>
          <a:ln cap="flat" cmpd="sng" w="10150">
            <a:solidFill>
              <a:srgbClr val="0946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21"/>
          <p:cNvSpPr txBox="1"/>
          <p:nvPr/>
        </p:nvSpPr>
        <p:spPr>
          <a:xfrm>
            <a:off x="3364991" y="3200400"/>
            <a:ext cx="960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/>
          </a:p>
        </p:txBody>
      </p:sp>
      <p:sp>
        <p:nvSpPr>
          <p:cNvPr id="379" name="Google Shape;379;p21"/>
          <p:cNvSpPr/>
          <p:nvPr/>
        </p:nvSpPr>
        <p:spPr>
          <a:xfrm>
            <a:off x="5129784" y="1600200"/>
            <a:ext cx="1965960" cy="1965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2E2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21"/>
          <p:cNvSpPr/>
          <p:nvPr/>
        </p:nvSpPr>
        <p:spPr>
          <a:xfrm>
            <a:off x="5788152" y="1874519"/>
            <a:ext cx="658368" cy="658368"/>
          </a:xfrm>
          <a:prstGeom prst="ellipse">
            <a:avLst/>
          </a:prstGeom>
          <a:solidFill>
            <a:srgbClr val="DCF1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1"/>
          <p:cNvSpPr txBox="1"/>
          <p:nvPr/>
        </p:nvSpPr>
        <p:spPr>
          <a:xfrm>
            <a:off x="5788152" y="2029968"/>
            <a:ext cx="6583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AC</a:t>
            </a:r>
            <a:endParaRPr/>
          </a:p>
        </p:txBody>
      </p:sp>
      <p:sp>
        <p:nvSpPr>
          <p:cNvPr id="382" name="Google Shape;382;p21"/>
          <p:cNvSpPr txBox="1"/>
          <p:nvPr/>
        </p:nvSpPr>
        <p:spPr>
          <a:xfrm>
            <a:off x="5276088" y="2761488"/>
            <a:ext cx="16733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Aude Comte</a:t>
            </a:r>
            <a:endParaRPr/>
          </a:p>
        </p:txBody>
      </p:sp>
      <p:sp>
        <p:nvSpPr>
          <p:cNvPr id="383" name="Google Shape;383;p21"/>
          <p:cNvSpPr/>
          <p:nvPr/>
        </p:nvSpPr>
        <p:spPr>
          <a:xfrm>
            <a:off x="5632704" y="3182112"/>
            <a:ext cx="960120" cy="310896"/>
          </a:xfrm>
          <a:prstGeom prst="roundRect">
            <a:avLst>
              <a:gd fmla="val 16667" name="adj"/>
            </a:avLst>
          </a:prstGeom>
          <a:solidFill>
            <a:srgbClr val="094639"/>
          </a:solidFill>
          <a:ln cap="flat" cmpd="sng" w="10150">
            <a:solidFill>
              <a:srgbClr val="0946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21"/>
          <p:cNvSpPr txBox="1"/>
          <p:nvPr/>
        </p:nvSpPr>
        <p:spPr>
          <a:xfrm>
            <a:off x="5632704" y="3200400"/>
            <a:ext cx="960000" cy="230700"/>
          </a:xfrm>
          <a:prstGeom prst="rect">
            <a:avLst/>
          </a:prstGeom>
          <a:solidFill>
            <a:srgbClr val="094639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ATS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385" name="Google Shape;385;p21"/>
          <p:cNvSpPr/>
          <p:nvPr/>
        </p:nvSpPr>
        <p:spPr>
          <a:xfrm>
            <a:off x="7397496" y="1600200"/>
            <a:ext cx="1965960" cy="1965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2E2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1"/>
          <p:cNvSpPr/>
          <p:nvPr/>
        </p:nvSpPr>
        <p:spPr>
          <a:xfrm>
            <a:off x="8055864" y="1874519"/>
            <a:ext cx="658368" cy="658368"/>
          </a:xfrm>
          <a:prstGeom prst="ellipse">
            <a:avLst/>
          </a:prstGeom>
          <a:solidFill>
            <a:srgbClr val="DCF1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21"/>
          <p:cNvSpPr txBox="1"/>
          <p:nvPr/>
        </p:nvSpPr>
        <p:spPr>
          <a:xfrm>
            <a:off x="8055864" y="2029968"/>
            <a:ext cx="6583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AL</a:t>
            </a:r>
            <a:endParaRPr/>
          </a:p>
        </p:txBody>
      </p:sp>
      <p:sp>
        <p:nvSpPr>
          <p:cNvPr id="388" name="Google Shape;388;p21"/>
          <p:cNvSpPr txBox="1"/>
          <p:nvPr/>
        </p:nvSpPr>
        <p:spPr>
          <a:xfrm>
            <a:off x="7543800" y="2761488"/>
            <a:ext cx="16733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Abdessalam Lahlou</a:t>
            </a:r>
            <a:endParaRPr/>
          </a:p>
        </p:txBody>
      </p:sp>
      <p:sp>
        <p:nvSpPr>
          <p:cNvPr id="389" name="Google Shape;389;p21"/>
          <p:cNvSpPr/>
          <p:nvPr/>
        </p:nvSpPr>
        <p:spPr>
          <a:xfrm>
            <a:off x="7900416" y="3182112"/>
            <a:ext cx="960120" cy="310896"/>
          </a:xfrm>
          <a:prstGeom prst="roundRect">
            <a:avLst>
              <a:gd fmla="val 16667" name="adj"/>
            </a:avLst>
          </a:prstGeom>
          <a:solidFill>
            <a:srgbClr val="094639"/>
          </a:solidFill>
          <a:ln cap="flat" cmpd="sng" w="10150">
            <a:solidFill>
              <a:srgbClr val="0946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21"/>
          <p:cNvSpPr txBox="1"/>
          <p:nvPr/>
        </p:nvSpPr>
        <p:spPr>
          <a:xfrm>
            <a:off x="7900416" y="3200400"/>
            <a:ext cx="960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n8n</a:t>
            </a:r>
            <a:endParaRPr/>
          </a:p>
        </p:txBody>
      </p:sp>
      <p:sp>
        <p:nvSpPr>
          <p:cNvPr id="391" name="Google Shape;391;p21"/>
          <p:cNvSpPr/>
          <p:nvPr/>
        </p:nvSpPr>
        <p:spPr>
          <a:xfrm>
            <a:off x="9665208" y="1600200"/>
            <a:ext cx="1965960" cy="196596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0150">
            <a:solidFill>
              <a:srgbClr val="E2E2D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21"/>
          <p:cNvSpPr/>
          <p:nvPr/>
        </p:nvSpPr>
        <p:spPr>
          <a:xfrm>
            <a:off x="10323576" y="1874519"/>
            <a:ext cx="658368" cy="658368"/>
          </a:xfrm>
          <a:prstGeom prst="ellipse">
            <a:avLst/>
          </a:prstGeom>
          <a:solidFill>
            <a:srgbClr val="DCF1E9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21"/>
          <p:cNvSpPr txBox="1"/>
          <p:nvPr/>
        </p:nvSpPr>
        <p:spPr>
          <a:xfrm>
            <a:off x="10323576" y="2029968"/>
            <a:ext cx="6583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JR</a:t>
            </a:r>
            <a:endParaRPr/>
          </a:p>
        </p:txBody>
      </p:sp>
      <p:sp>
        <p:nvSpPr>
          <p:cNvPr id="394" name="Google Shape;394;p21"/>
          <p:cNvSpPr txBox="1"/>
          <p:nvPr/>
        </p:nvSpPr>
        <p:spPr>
          <a:xfrm>
            <a:off x="9811512" y="2761488"/>
            <a:ext cx="1673352" cy="3840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Jimmy Ribeiro</a:t>
            </a:r>
            <a:endParaRPr/>
          </a:p>
        </p:txBody>
      </p:sp>
      <p:sp>
        <p:nvSpPr>
          <p:cNvPr id="395" name="Google Shape;395;p21"/>
          <p:cNvSpPr/>
          <p:nvPr/>
        </p:nvSpPr>
        <p:spPr>
          <a:xfrm>
            <a:off x="10168128" y="3182112"/>
            <a:ext cx="960120" cy="310896"/>
          </a:xfrm>
          <a:prstGeom prst="roundRect">
            <a:avLst>
              <a:gd fmla="val 16667" name="adj"/>
            </a:avLst>
          </a:prstGeom>
          <a:solidFill>
            <a:srgbClr val="094639"/>
          </a:solidFill>
          <a:ln cap="flat" cmpd="sng" w="10150">
            <a:solidFill>
              <a:srgbClr val="0946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21"/>
          <p:cNvSpPr txBox="1"/>
          <p:nvPr/>
        </p:nvSpPr>
        <p:spPr>
          <a:xfrm>
            <a:off x="10168128" y="3200400"/>
            <a:ext cx="960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n8n</a:t>
            </a:r>
            <a:endParaRPr/>
          </a:p>
        </p:txBody>
      </p:sp>
      <p:sp>
        <p:nvSpPr>
          <p:cNvPr id="397" name="Google Shape;397;p21"/>
          <p:cNvSpPr/>
          <p:nvPr/>
        </p:nvSpPr>
        <p:spPr>
          <a:xfrm>
            <a:off x="594360" y="4069080"/>
            <a:ext cx="10972800" cy="1234440"/>
          </a:xfrm>
          <a:prstGeom prst="roundRect">
            <a:avLst>
              <a:gd fmla="val 16667" name="adj"/>
            </a:avLst>
          </a:prstGeom>
          <a:solidFill>
            <a:srgbClr val="094639"/>
          </a:solidFill>
          <a:ln cap="flat" cmpd="sng" w="10150">
            <a:solidFill>
              <a:srgbClr val="0946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21"/>
          <p:cNvSpPr txBox="1"/>
          <p:nvPr/>
        </p:nvSpPr>
        <p:spPr>
          <a:xfrm>
            <a:off x="868680" y="4315968"/>
            <a:ext cx="21945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Principe d’organisation</a:t>
            </a:r>
            <a:endParaRPr/>
          </a:p>
        </p:txBody>
      </p:sp>
      <p:sp>
        <p:nvSpPr>
          <p:cNvPr id="399" name="Google Shape;399;p21"/>
          <p:cNvSpPr txBox="1"/>
          <p:nvPr/>
        </p:nvSpPr>
        <p:spPr>
          <a:xfrm>
            <a:off x="2926080" y="4279392"/>
            <a:ext cx="8001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CF1E9"/>
                </a:solidFill>
                <a:latin typeface="Arial"/>
                <a:ea typeface="Arial"/>
                <a:cs typeface="Arial"/>
                <a:sym typeface="Arial"/>
              </a:rPr>
              <a:t>Définir tôt les contrats d’interface pour permettre au Front, au Back, à l’ATS et à n8n de travailler en parallèle avec des données simulées.</a:t>
            </a:r>
            <a:endParaRPr/>
          </a:p>
        </p:txBody>
      </p:sp>
      <p:sp>
        <p:nvSpPr>
          <p:cNvPr id="400" name="Google Shape;400;p21"/>
          <p:cNvSpPr txBox="1"/>
          <p:nvPr/>
        </p:nvSpPr>
        <p:spPr>
          <a:xfrm>
            <a:off x="502920" y="647395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Interimatch</a:t>
            </a:r>
            <a:endParaRPr/>
          </a:p>
        </p:txBody>
      </p:sp>
      <p:sp>
        <p:nvSpPr>
          <p:cNvPr id="401" name="Google Shape;401;p21"/>
          <p:cNvSpPr txBox="1"/>
          <p:nvPr/>
        </p:nvSpPr>
        <p:spPr>
          <a:xfrm>
            <a:off x="1508760" y="647395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96F6A"/>
                </a:solidFill>
                <a:latin typeface="Arial"/>
                <a:ea typeface="Arial"/>
                <a:cs typeface="Arial"/>
                <a:sym typeface="Arial"/>
              </a:rPr>
              <a:t>Les talents d’aujourd’hui, vos réussites de demain.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2"/>
          <p:cNvSpPr/>
          <p:nvPr/>
        </p:nvSpPr>
        <p:spPr>
          <a:xfrm>
            <a:off x="502920" y="384048"/>
            <a:ext cx="411480" cy="310896"/>
          </a:xfrm>
          <a:prstGeom prst="roundRect">
            <a:avLst>
              <a:gd fmla="val 16667" name="adj"/>
            </a:avLst>
          </a:prstGeom>
          <a:solidFill>
            <a:srgbClr val="DCF1E9"/>
          </a:solidFill>
          <a:ln cap="flat" cmpd="sng" w="10150">
            <a:solidFill>
              <a:srgbClr val="DCF1E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2"/>
          <p:cNvSpPr txBox="1"/>
          <p:nvPr/>
        </p:nvSpPr>
        <p:spPr>
          <a:xfrm>
            <a:off x="502920" y="402336"/>
            <a:ext cx="411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09</a:t>
            </a:r>
            <a:endParaRPr/>
          </a:p>
        </p:txBody>
      </p:sp>
      <p:sp>
        <p:nvSpPr>
          <p:cNvPr id="409" name="Google Shape;409;p22"/>
          <p:cNvSpPr txBox="1"/>
          <p:nvPr/>
        </p:nvSpPr>
        <p:spPr>
          <a:xfrm>
            <a:off x="1051560" y="338328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00" u="none" cap="none" strike="noStrike">
                <a:solidFill>
                  <a:srgbClr val="1C201E"/>
                </a:solidFill>
                <a:latin typeface="Georgia"/>
                <a:ea typeface="Georgia"/>
                <a:cs typeface="Georgia"/>
                <a:sym typeface="Georgia"/>
              </a:rPr>
              <a:t>Roadmap • 11 jours</a:t>
            </a:r>
            <a:endParaRPr/>
          </a:p>
        </p:txBody>
      </p:sp>
      <p:sp>
        <p:nvSpPr>
          <p:cNvPr id="410" name="Google Shape;410;p22"/>
          <p:cNvSpPr/>
          <p:nvPr/>
        </p:nvSpPr>
        <p:spPr>
          <a:xfrm>
            <a:off x="822960" y="3017520"/>
            <a:ext cx="10561320" cy="36576"/>
          </a:xfrm>
          <a:prstGeom prst="rect">
            <a:avLst/>
          </a:prstGeom>
          <a:solidFill>
            <a:srgbClr val="A6C6BA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22"/>
          <p:cNvSpPr/>
          <p:nvPr/>
        </p:nvSpPr>
        <p:spPr>
          <a:xfrm>
            <a:off x="777240" y="2862072"/>
            <a:ext cx="329184" cy="329184"/>
          </a:xfrm>
          <a:prstGeom prst="ellipse">
            <a:avLst/>
          </a:prstGeom>
          <a:solidFill>
            <a:srgbClr val="09463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22"/>
          <p:cNvSpPr txBox="1"/>
          <p:nvPr/>
        </p:nvSpPr>
        <p:spPr>
          <a:xfrm>
            <a:off x="548640" y="2121408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J1–2</a:t>
            </a:r>
            <a:endParaRPr/>
          </a:p>
        </p:txBody>
      </p:sp>
      <p:sp>
        <p:nvSpPr>
          <p:cNvPr id="413" name="Google Shape;413;p22"/>
          <p:cNvSpPr txBox="1"/>
          <p:nvPr/>
        </p:nvSpPr>
        <p:spPr>
          <a:xfrm>
            <a:off x="197975" y="3310125"/>
            <a:ext cx="13566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Cadrage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Architecture</a:t>
            </a:r>
            <a:endParaRPr/>
          </a:p>
        </p:txBody>
      </p:sp>
      <p:sp>
        <p:nvSpPr>
          <p:cNvPr id="414" name="Google Shape;414;p22"/>
          <p:cNvSpPr/>
          <p:nvPr/>
        </p:nvSpPr>
        <p:spPr>
          <a:xfrm>
            <a:off x="1874519" y="2862072"/>
            <a:ext cx="329184" cy="329184"/>
          </a:xfrm>
          <a:prstGeom prst="ellipse">
            <a:avLst/>
          </a:prstGeom>
          <a:solidFill>
            <a:srgbClr val="09463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2"/>
          <p:cNvSpPr txBox="1"/>
          <p:nvPr/>
        </p:nvSpPr>
        <p:spPr>
          <a:xfrm>
            <a:off x="1645919" y="2121408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J3</a:t>
            </a:r>
            <a:endParaRPr/>
          </a:p>
        </p:txBody>
      </p:sp>
      <p:sp>
        <p:nvSpPr>
          <p:cNvPr id="416" name="Google Shape;416;p22"/>
          <p:cNvSpPr txBox="1"/>
          <p:nvPr/>
        </p:nvSpPr>
        <p:spPr>
          <a:xfrm>
            <a:off x="1554479" y="3310128"/>
            <a:ext cx="960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Comptes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</a:t>
            </a:r>
            <a:endParaRPr/>
          </a:p>
        </p:txBody>
      </p:sp>
      <p:sp>
        <p:nvSpPr>
          <p:cNvPr id="417" name="Google Shape;417;p22"/>
          <p:cNvSpPr/>
          <p:nvPr/>
        </p:nvSpPr>
        <p:spPr>
          <a:xfrm>
            <a:off x="2971800" y="2862072"/>
            <a:ext cx="329184" cy="329184"/>
          </a:xfrm>
          <a:prstGeom prst="ellipse">
            <a:avLst/>
          </a:prstGeom>
          <a:solidFill>
            <a:srgbClr val="09463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2"/>
          <p:cNvSpPr txBox="1"/>
          <p:nvPr/>
        </p:nvSpPr>
        <p:spPr>
          <a:xfrm>
            <a:off x="2743200" y="2121408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J4</a:t>
            </a:r>
            <a:endParaRPr/>
          </a:p>
        </p:txBody>
      </p:sp>
      <p:sp>
        <p:nvSpPr>
          <p:cNvPr id="419" name="Google Shape;419;p22"/>
          <p:cNvSpPr txBox="1"/>
          <p:nvPr/>
        </p:nvSpPr>
        <p:spPr>
          <a:xfrm>
            <a:off x="2651749" y="3310125"/>
            <a:ext cx="10290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Profils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Missions</a:t>
            </a:r>
            <a:endParaRPr/>
          </a:p>
        </p:txBody>
      </p:sp>
      <p:sp>
        <p:nvSpPr>
          <p:cNvPr id="420" name="Google Shape;420;p22"/>
          <p:cNvSpPr/>
          <p:nvPr/>
        </p:nvSpPr>
        <p:spPr>
          <a:xfrm>
            <a:off x="4069079" y="2862072"/>
            <a:ext cx="329184" cy="329184"/>
          </a:xfrm>
          <a:prstGeom prst="ellipse">
            <a:avLst/>
          </a:prstGeom>
          <a:solidFill>
            <a:srgbClr val="09463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22"/>
          <p:cNvSpPr txBox="1"/>
          <p:nvPr/>
        </p:nvSpPr>
        <p:spPr>
          <a:xfrm>
            <a:off x="3840479" y="2121408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J5</a:t>
            </a:r>
            <a:endParaRPr/>
          </a:p>
        </p:txBody>
      </p:sp>
      <p:sp>
        <p:nvSpPr>
          <p:cNvPr id="422" name="Google Shape;422;p22"/>
          <p:cNvSpPr txBox="1"/>
          <p:nvPr/>
        </p:nvSpPr>
        <p:spPr>
          <a:xfrm>
            <a:off x="3749039" y="3310128"/>
            <a:ext cx="960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Matching</a:t>
            </a:r>
            <a:endParaRPr/>
          </a:p>
        </p:txBody>
      </p:sp>
      <p:sp>
        <p:nvSpPr>
          <p:cNvPr id="423" name="Google Shape;423;p22"/>
          <p:cNvSpPr/>
          <p:nvPr/>
        </p:nvSpPr>
        <p:spPr>
          <a:xfrm>
            <a:off x="5089472" y="2862035"/>
            <a:ext cx="329100" cy="329100"/>
          </a:xfrm>
          <a:prstGeom prst="ellipse">
            <a:avLst/>
          </a:prstGeom>
          <a:solidFill>
            <a:srgbClr val="09463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22"/>
          <p:cNvSpPr txBox="1"/>
          <p:nvPr/>
        </p:nvSpPr>
        <p:spPr>
          <a:xfrm>
            <a:off x="4937759" y="2121408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J6</a:t>
            </a:r>
            <a:endParaRPr/>
          </a:p>
        </p:txBody>
      </p:sp>
      <p:sp>
        <p:nvSpPr>
          <p:cNvPr id="425" name="Google Shape;425;p22"/>
          <p:cNvSpPr txBox="1"/>
          <p:nvPr/>
        </p:nvSpPr>
        <p:spPr>
          <a:xfrm>
            <a:off x="4572000" y="3310125"/>
            <a:ext cx="13716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n8n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Notifications</a:t>
            </a:r>
            <a:endParaRPr/>
          </a:p>
        </p:txBody>
      </p:sp>
      <p:sp>
        <p:nvSpPr>
          <p:cNvPr id="426" name="Google Shape;426;p22"/>
          <p:cNvSpPr/>
          <p:nvPr/>
        </p:nvSpPr>
        <p:spPr>
          <a:xfrm>
            <a:off x="6263640" y="2862072"/>
            <a:ext cx="329184" cy="329184"/>
          </a:xfrm>
          <a:prstGeom prst="ellipse">
            <a:avLst/>
          </a:prstGeom>
          <a:solidFill>
            <a:srgbClr val="09463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2"/>
          <p:cNvSpPr txBox="1"/>
          <p:nvPr/>
        </p:nvSpPr>
        <p:spPr>
          <a:xfrm>
            <a:off x="6035040" y="2121408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J7</a:t>
            </a:r>
            <a:endParaRPr/>
          </a:p>
        </p:txBody>
      </p:sp>
      <p:sp>
        <p:nvSpPr>
          <p:cNvPr id="428" name="Google Shape;428;p22"/>
          <p:cNvSpPr txBox="1"/>
          <p:nvPr/>
        </p:nvSpPr>
        <p:spPr>
          <a:xfrm>
            <a:off x="5943600" y="3310128"/>
            <a:ext cx="960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Acceptation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Statuts</a:t>
            </a:r>
            <a:endParaRPr/>
          </a:p>
        </p:txBody>
      </p:sp>
      <p:sp>
        <p:nvSpPr>
          <p:cNvPr id="429" name="Google Shape;429;p22"/>
          <p:cNvSpPr/>
          <p:nvPr/>
        </p:nvSpPr>
        <p:spPr>
          <a:xfrm>
            <a:off x="7207144" y="2871222"/>
            <a:ext cx="329100" cy="329100"/>
          </a:xfrm>
          <a:prstGeom prst="ellipse">
            <a:avLst/>
          </a:prstGeom>
          <a:solidFill>
            <a:srgbClr val="09463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22"/>
          <p:cNvSpPr txBox="1"/>
          <p:nvPr/>
        </p:nvSpPr>
        <p:spPr>
          <a:xfrm>
            <a:off x="7132319" y="2121408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J8</a:t>
            </a:r>
            <a:endParaRPr/>
          </a:p>
        </p:txBody>
      </p:sp>
      <p:sp>
        <p:nvSpPr>
          <p:cNvPr id="431" name="Google Shape;431;p22"/>
          <p:cNvSpPr txBox="1"/>
          <p:nvPr/>
        </p:nvSpPr>
        <p:spPr>
          <a:xfrm>
            <a:off x="6834850" y="3294588"/>
            <a:ext cx="10974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Données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publiques</a:t>
            </a:r>
            <a:endParaRPr/>
          </a:p>
        </p:txBody>
      </p:sp>
      <p:sp>
        <p:nvSpPr>
          <p:cNvPr id="432" name="Google Shape;432;p22"/>
          <p:cNvSpPr/>
          <p:nvPr/>
        </p:nvSpPr>
        <p:spPr>
          <a:xfrm>
            <a:off x="8419413" y="2861985"/>
            <a:ext cx="329100" cy="329100"/>
          </a:xfrm>
          <a:prstGeom prst="ellipse">
            <a:avLst/>
          </a:prstGeom>
          <a:solidFill>
            <a:srgbClr val="09463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2"/>
          <p:cNvSpPr txBox="1"/>
          <p:nvPr/>
        </p:nvSpPr>
        <p:spPr>
          <a:xfrm>
            <a:off x="8229600" y="2121408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J9</a:t>
            </a:r>
            <a:endParaRPr/>
          </a:p>
        </p:txBody>
      </p:sp>
      <p:sp>
        <p:nvSpPr>
          <p:cNvPr id="434" name="Google Shape;434;p22"/>
          <p:cNvSpPr txBox="1"/>
          <p:nvPr/>
        </p:nvSpPr>
        <p:spPr>
          <a:xfrm>
            <a:off x="7932250" y="3310125"/>
            <a:ext cx="13035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Sécurité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Conformité</a:t>
            </a:r>
            <a:endParaRPr/>
          </a:p>
        </p:txBody>
      </p:sp>
      <p:sp>
        <p:nvSpPr>
          <p:cNvPr id="435" name="Google Shape;435;p22"/>
          <p:cNvSpPr/>
          <p:nvPr/>
        </p:nvSpPr>
        <p:spPr>
          <a:xfrm>
            <a:off x="9612018" y="2861985"/>
            <a:ext cx="329100" cy="329100"/>
          </a:xfrm>
          <a:prstGeom prst="ellipse">
            <a:avLst/>
          </a:prstGeom>
          <a:solidFill>
            <a:srgbClr val="094639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22"/>
          <p:cNvSpPr txBox="1"/>
          <p:nvPr/>
        </p:nvSpPr>
        <p:spPr>
          <a:xfrm>
            <a:off x="9326880" y="2121408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J10</a:t>
            </a:r>
            <a:endParaRPr/>
          </a:p>
        </p:txBody>
      </p:sp>
      <p:sp>
        <p:nvSpPr>
          <p:cNvPr id="437" name="Google Shape;437;p22"/>
          <p:cNvSpPr txBox="1"/>
          <p:nvPr/>
        </p:nvSpPr>
        <p:spPr>
          <a:xfrm>
            <a:off x="9098275" y="3310125"/>
            <a:ext cx="13566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Tests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Stabilisation</a:t>
            </a:r>
            <a:endParaRPr/>
          </a:p>
        </p:txBody>
      </p:sp>
      <p:sp>
        <p:nvSpPr>
          <p:cNvPr id="438" name="Google Shape;438;p22"/>
          <p:cNvSpPr/>
          <p:nvPr/>
        </p:nvSpPr>
        <p:spPr>
          <a:xfrm>
            <a:off x="10872209" y="2862072"/>
            <a:ext cx="329100" cy="329100"/>
          </a:xfrm>
          <a:prstGeom prst="ellipse">
            <a:avLst/>
          </a:prstGeom>
          <a:solidFill>
            <a:srgbClr val="E2E2D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2"/>
          <p:cNvSpPr txBox="1"/>
          <p:nvPr/>
        </p:nvSpPr>
        <p:spPr>
          <a:xfrm>
            <a:off x="10424159" y="2121408"/>
            <a:ext cx="777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J11</a:t>
            </a:r>
            <a:endParaRPr/>
          </a:p>
        </p:txBody>
      </p:sp>
      <p:sp>
        <p:nvSpPr>
          <p:cNvPr id="440" name="Google Shape;440;p22"/>
          <p:cNvSpPr txBox="1"/>
          <p:nvPr/>
        </p:nvSpPr>
        <p:spPr>
          <a:xfrm>
            <a:off x="10332725" y="3310125"/>
            <a:ext cx="1497600" cy="5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Finalisation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Soutenance</a:t>
            </a:r>
            <a:endParaRPr/>
          </a:p>
        </p:txBody>
      </p:sp>
      <p:sp>
        <p:nvSpPr>
          <p:cNvPr id="441" name="Google Shape;441;p22"/>
          <p:cNvSpPr/>
          <p:nvPr/>
        </p:nvSpPr>
        <p:spPr>
          <a:xfrm>
            <a:off x="914400" y="4709160"/>
            <a:ext cx="10332720" cy="777240"/>
          </a:xfrm>
          <a:prstGeom prst="roundRect">
            <a:avLst>
              <a:gd fmla="val 16667" name="adj"/>
            </a:avLst>
          </a:prstGeom>
          <a:solidFill>
            <a:srgbClr val="FBEBE0"/>
          </a:solidFill>
          <a:ln cap="flat" cmpd="sng" w="10150">
            <a:solidFill>
              <a:srgbClr val="FBEBE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2"/>
          <p:cNvSpPr txBox="1"/>
          <p:nvPr/>
        </p:nvSpPr>
        <p:spPr>
          <a:xfrm>
            <a:off x="1143000" y="4956048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1C201E"/>
                </a:solidFill>
                <a:latin typeface="Arial"/>
                <a:ea typeface="Arial"/>
                <a:cs typeface="Arial"/>
                <a:sym typeface="Arial"/>
              </a:rPr>
              <a:t>Jalon principal : disposer au plus tôt d’un flux réel Mission → Matching → Webhook n8n.</a:t>
            </a:r>
            <a:endParaRPr/>
          </a:p>
        </p:txBody>
      </p:sp>
      <p:sp>
        <p:nvSpPr>
          <p:cNvPr id="443" name="Google Shape;443;p22"/>
          <p:cNvSpPr txBox="1"/>
          <p:nvPr/>
        </p:nvSpPr>
        <p:spPr>
          <a:xfrm>
            <a:off x="502920" y="6473952"/>
            <a:ext cx="10972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94639"/>
                </a:solidFill>
                <a:latin typeface="Arial"/>
                <a:ea typeface="Arial"/>
                <a:cs typeface="Arial"/>
                <a:sym typeface="Arial"/>
              </a:rPr>
              <a:t>Interimatch</a:t>
            </a:r>
            <a:endParaRPr/>
          </a:p>
        </p:txBody>
      </p:sp>
      <p:sp>
        <p:nvSpPr>
          <p:cNvPr id="444" name="Google Shape;444;p22"/>
          <p:cNvSpPr txBox="1"/>
          <p:nvPr/>
        </p:nvSpPr>
        <p:spPr>
          <a:xfrm>
            <a:off x="1508760" y="6473952"/>
            <a:ext cx="3108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696F6A"/>
                </a:solidFill>
                <a:latin typeface="Arial"/>
                <a:ea typeface="Arial"/>
                <a:cs typeface="Arial"/>
                <a:sym typeface="Arial"/>
              </a:rPr>
              <a:t>Les talents d’aujourd’hui, vos réussites de demain.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7F3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3"/>
          <p:cNvSpPr/>
          <p:nvPr/>
        </p:nvSpPr>
        <p:spPr>
          <a:xfrm>
            <a:off x="502920" y="502920"/>
            <a:ext cx="11201400" cy="5806440"/>
          </a:xfrm>
          <a:prstGeom prst="roundRect">
            <a:avLst>
              <a:gd fmla="val 16667" name="adj"/>
            </a:avLst>
          </a:prstGeom>
          <a:solidFill>
            <a:srgbClr val="094639"/>
          </a:solidFill>
          <a:ln cap="flat" cmpd="sng" w="10150">
            <a:solidFill>
              <a:srgbClr val="094639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3"/>
          <p:cNvSpPr/>
          <p:nvPr/>
        </p:nvSpPr>
        <p:spPr>
          <a:xfrm>
            <a:off x="868680" y="914400"/>
            <a:ext cx="1417320" cy="310896"/>
          </a:xfrm>
          <a:prstGeom prst="roundRect">
            <a:avLst>
              <a:gd fmla="val 16667" name="adj"/>
            </a:avLst>
          </a:prstGeom>
          <a:solidFill>
            <a:srgbClr val="FF6837"/>
          </a:solidFill>
          <a:ln cap="flat" cmpd="sng" w="10150">
            <a:solidFill>
              <a:srgbClr val="FF683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3"/>
          <p:cNvSpPr txBox="1"/>
          <p:nvPr/>
        </p:nvSpPr>
        <p:spPr>
          <a:xfrm>
            <a:off x="868680" y="932688"/>
            <a:ext cx="1417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OBJECTIF DU POC</a:t>
            </a:r>
            <a:endParaRPr/>
          </a:p>
        </p:txBody>
      </p:sp>
      <p:sp>
        <p:nvSpPr>
          <p:cNvPr id="453" name="Google Shape;453;p23"/>
          <p:cNvSpPr txBox="1"/>
          <p:nvPr/>
        </p:nvSpPr>
        <p:spPr>
          <a:xfrm>
            <a:off x="868680" y="1508760"/>
            <a:ext cx="65838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Démontrer un parcours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complet, fiable et fluide.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454" name="Google Shape;454;p23"/>
          <p:cNvSpPr txBox="1"/>
          <p:nvPr/>
        </p:nvSpPr>
        <p:spPr>
          <a:xfrm>
            <a:off x="868680" y="2834640"/>
            <a:ext cx="64008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DCF1E9"/>
                </a:solidFill>
                <a:latin typeface="Arial"/>
                <a:ea typeface="Arial"/>
                <a:cs typeface="Arial"/>
                <a:sym typeface="Arial"/>
              </a:rPr>
              <a:t>Une entreprise publie une mission. Interimatch identifie les bons profils, les notifie et traite l’acceptation jusqu’à la clôture de la mission.</a:t>
            </a:r>
            <a:endParaRPr/>
          </a:p>
        </p:txBody>
      </p:sp>
      <p:sp>
        <p:nvSpPr>
          <p:cNvPr id="455" name="Google Shape;455;p23"/>
          <p:cNvSpPr/>
          <p:nvPr/>
        </p:nvSpPr>
        <p:spPr>
          <a:xfrm>
            <a:off x="868680" y="4160520"/>
            <a:ext cx="9875520" cy="640080"/>
          </a:xfrm>
          <a:prstGeom prst="roundRect">
            <a:avLst>
              <a:gd fmla="val 16667" name="adj"/>
            </a:avLst>
          </a:prstGeom>
          <a:solidFill>
            <a:srgbClr val="145848"/>
          </a:solidFill>
          <a:ln cap="flat" cmpd="sng" w="10150">
            <a:solidFill>
              <a:srgbClr val="1458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23"/>
          <p:cNvSpPr txBox="1"/>
          <p:nvPr/>
        </p:nvSpPr>
        <p:spPr>
          <a:xfrm>
            <a:off x="1024128" y="4361688"/>
            <a:ext cx="95556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MISSION  →  MATCHING  →  NOTIFICATION  →  ACCEPTATION  →  </a:t>
            </a:r>
            <a:r>
              <a:rPr b="1" lang="en-US" sz="1300">
                <a:solidFill>
                  <a:srgbClr val="FFFFFF"/>
                </a:solidFill>
              </a:rPr>
              <a:t>POURVU</a:t>
            </a:r>
            <a:endParaRPr/>
          </a:p>
        </p:txBody>
      </p:sp>
      <p:sp>
        <p:nvSpPr>
          <p:cNvPr id="457" name="Google Shape;457;p23"/>
          <p:cNvSpPr txBox="1"/>
          <p:nvPr/>
        </p:nvSpPr>
        <p:spPr>
          <a:xfrm>
            <a:off x="868680" y="565099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Interimatch</a:t>
            </a:r>
            <a:endParaRPr/>
          </a:p>
        </p:txBody>
      </p:sp>
      <p:sp>
        <p:nvSpPr>
          <p:cNvPr id="458" name="Google Shape;458;p23"/>
          <p:cNvSpPr txBox="1"/>
          <p:nvPr/>
        </p:nvSpPr>
        <p:spPr>
          <a:xfrm>
            <a:off x="2743200" y="5669280"/>
            <a:ext cx="36576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DCF1E9"/>
                </a:solidFill>
                <a:latin typeface="Arial"/>
                <a:ea typeface="Arial"/>
                <a:cs typeface="Arial"/>
                <a:sym typeface="Arial"/>
              </a:rPr>
              <a:t>Les talents d’aujourd’hui, vos réussites de demain.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